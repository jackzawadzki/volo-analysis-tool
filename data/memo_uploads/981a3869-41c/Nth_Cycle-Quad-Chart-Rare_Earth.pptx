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comments/modernComment_10A_2A5F0D8A.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4"/>
  </p:sldMasterIdLst>
  <p:sldIdLst>
    <p:sldId id="265" r:id="rId5"/>
    <p:sldId id="26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D968337-1405-DEF7-3EBF-0AEF939003C2}" name="Raffi Freeman" initials="" userId="S::freeman@nthcycle.com::4be8a2df-43e9-4b57-893d-21ce72962081" providerId="AD"/>
  <p188:author id="{FE6E1F4E-9B24-6432-6C24-00EF42D02345}" name="Allie Wiegel" initials="AW" userId="S::Wiegel@nthcycle.com::7e47671e-fd96-4dc5-9a35-597905225f8c" providerId="AD"/>
  <p188:author id="{DE6A3664-B2F1-9610-DB02-1D24DBD642CF}" name="Morrow, D Jeffrey CIV WHS AD (USA)" initials="M(" userId="S::dwight.j.morrow2.civ@mail.mil::bf47b033-2c1b-4d7d-82de-fb61771927f9" providerId="AD"/>
  <p188:author id="{AF20BC88-A2BB-146C-2F90-60A06761A94A}" name="Verrine, Jacqueline G CIV WHS AD (USA)" initials="JV" userId="S::jacqueline.g.verrine.civ@mail.mil::7b2a1bdc-1966-4fad-b97d-b4755f6df0b8" providerId="AD"/>
  <p188:author id="{34FB88E0-D110-35A7-B285-BD7F0250EB31}" name="Megan O'Connor" initials="MO" userId="S::oconnor@nthcycle.com::eaab0132-f556-4cab-ae41-2f7b4a8b0a3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d Vecitis" initials="CV" lastIdx="1" clrIdx="0">
    <p:extLst>
      <p:ext uri="{19B8F6BF-5375-455C-9EA6-DF929625EA0E}">
        <p15:presenceInfo xmlns:p15="http://schemas.microsoft.com/office/powerpoint/2012/main" userId="S::vecitis@nthcycle.com::70aecc85-4c6e-4a40-a467-66008730a63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5A20FF-8861-58F3-6811-5753519FA84B}" v="147" dt="2026-03-19T21:04:03.998"/>
    <p1510:client id="{7A54634B-34E4-C0AC-48A6-194DA8354444}" v="179" dt="2026-03-19T22:54:44.402"/>
    <p1510:client id="{90ABBB4E-FE87-5677-B542-F5BF3D080F13}" v="2" dt="2026-03-19T18:36:10.747"/>
    <p1510:client id="{B2B98F5D-69C5-6E4C-80E3-EFF208F041DA}" v="759" dt="2026-03-19T23:51:19.323"/>
    <p1510:client id="{E1A9F766-0B08-7AAA-B7A7-64431994DD5B}" v="300" dt="2026-03-19T18:19:06.527"/>
    <p1510:client id="{F59ECF1C-9F9A-4BAA-8F02-34A8403965E0}" v="5" dt="2026-03-19T23:37:20.2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14"/>
    <p:restoredTop sz="94679"/>
  </p:normalViewPr>
  <p:slideViewPr>
    <p:cSldViewPr snapToGrid="0">
      <p:cViewPr varScale="1">
        <p:scale>
          <a:sx n="85" d="100"/>
          <a:sy n="85" d="100"/>
        </p:scale>
        <p:origin x="192"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commentAuthors" Target="commentAuthor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omments/modernComment_10A_2A5F0D8A.xml><?xml version="1.0" encoding="utf-8"?>
<p188:cmLst xmlns:a="http://schemas.openxmlformats.org/drawingml/2006/main" xmlns:r="http://schemas.openxmlformats.org/officeDocument/2006/relationships" xmlns:p188="http://schemas.microsoft.com/office/powerpoint/2018/8/main">
  <p188:cm id="{C68D724F-A3EA-40E1-9EA0-740A2D60E449}" authorId="{FE6E1F4E-9B24-6432-6C24-00EF42D02345}" created="2026-03-19T01:55:33.768">
    <ac:txMkLst xmlns:ac="http://schemas.microsoft.com/office/drawing/2013/main/command">
      <pc:docMk xmlns:pc="http://schemas.microsoft.com/office/powerpoint/2013/main/command"/>
      <pc:sldMk xmlns:pc="http://schemas.microsoft.com/office/powerpoint/2013/main/command" cId="710872458" sldId="266"/>
      <ac:spMk id="13" creationId="{615CA8BA-8413-5F8C-3CBC-984EBCBABCF6}"/>
      <ac:txMk cp="560" len="58">
        <ac:context len="1030" hash="1007081225"/>
      </ac:txMk>
    </ac:txMkLst>
    <p188:pos x="4278446" y="1037317"/>
    <p188:replyLst>
      <p188:reply id="{6255D7D5-1948-4A15-A302-EA8147F36253}" authorId="{FE6E1F4E-9B24-6432-6C24-00EF42D02345}" created="2026-03-19T01:55:56.641">
        <p188:txBody>
          <a:bodyPr/>
          <a:lstStyle/>
          <a:p>
            <a:r>
              <a:rPr lang="en-US"/>
              <a:t>Doesn’t include extra for third party pilots</a:t>
            </a:r>
          </a:p>
        </p188:txBody>
      </p188:reply>
    </p188:replyLst>
    <p188:txBody>
      <a:bodyPr/>
      <a:lstStyle/>
      <a:p>
        <a:r>
          <a:rPr lang="en-US"/>
          <a:t>Use of Funds ($206M):
- $1.4M Core Tech Dev
- $4.5M NH facility (testing equip and testing area facility renovation) 
- $200M commercial deployments (10 @ $20M per deployment)</a:t>
        </a:r>
      </a:p>
    </p188:txBody>
  </p188:cm>
  <p188:cm id="{557145C4-F09A-45E6-ADFF-399307BD0BDA}" authorId="{FE6E1F4E-9B24-6432-6C24-00EF42D02345}" created="2026-03-19T01:56:20.249" startDate="2026-03-19T01:56:20.249" dueDate="2026-03-19T01:56:20.249" assignedTo="{7D968337-1405-DEF7-3EBF-0AEF939003C2}" title="@Raffi Freeman ">
    <ac:txMkLst xmlns:ac="http://schemas.microsoft.com/office/drawing/2013/main/command">
      <pc:docMk xmlns:pc="http://schemas.microsoft.com/office/powerpoint/2013/main/command"/>
      <pc:sldMk xmlns:pc="http://schemas.microsoft.com/office/powerpoint/2013/main/command" cId="710872458" sldId="266"/>
      <ac:spMk id="13" creationId="{615CA8BA-8413-5F8C-3CBC-984EBCBABCF6}"/>
      <ac:txMk cp="669" len="25">
        <ac:context len="1030" hash="1007081225"/>
      </ac:txMk>
    </ac:txMkLst>
    <p188:pos x="2424421" y="1535507"/>
    <p188:txBody>
      <a:bodyPr/>
      <a:lstStyle/>
      <a:p>
        <a:r>
          <a:rPr lang="en-US"/>
          <a:t>[@Raffi Freeman] </a:t>
        </a:r>
      </a:p>
    </p188:txBody>
    <p188:extLst>
      <p:ext xmlns:p="http://schemas.openxmlformats.org/presentationml/2006/main" uri="{5BB2D875-25FF-4072-B9AC-8F64D62656EB}">
        <p228:taskDetails xmlns:p228="http://schemas.microsoft.com/office/powerpoint/2022/08/main">
          <p228:history>
            <p228:event time="2026-03-19T01:56:20.249" id="{A8DAA079-B23B-4F02-AA53-08150D27B458}">
              <p228:atrbtn authorId="{FE6E1F4E-9B24-6432-6C24-00EF42D02345}"/>
              <p228:anchr>
                <p228:comment id="{557145C4-F09A-45E6-ADFF-399307BD0BDA}"/>
              </p228:anchr>
              <p228:add/>
            </p228:event>
            <p228:event time="2026-03-19T01:56:20.249" id="{D4C121E3-4AB3-4066-A94C-3BC7E766E71D}">
              <p228:atrbtn authorId="{FE6E1F4E-9B24-6432-6C24-00EF42D02345}"/>
              <p228:anchr>
                <p228:comment id="{557145C4-F09A-45E6-ADFF-399307BD0BDA}"/>
              </p228:anchr>
              <p228:asgn authorId="{7D968337-1405-DEF7-3EBF-0AEF939003C2}"/>
            </p228:event>
            <p228:event time="2026-03-19T01:56:20.249" id="{8B729FDD-6305-436A-9E35-8A73555876AD}">
              <p228:atrbtn authorId="{FE6E1F4E-9B24-6432-6C24-00EF42D02345}"/>
              <p228:anchr>
                <p228:comment id="{557145C4-F09A-45E6-ADFF-399307BD0BDA}"/>
              </p228:anchr>
              <p228:title val="@Raffi Freeman "/>
            </p228:event>
            <p228:event time="2026-03-19T01:56:20.249" id="{DF8FC4FB-EED3-4EC2-9529-2AAE22EFEF14}">
              <p228:atrbtn authorId="{FE6E1F4E-9B24-6432-6C24-00EF42D02345}"/>
              <p228:anchr>
                <p228:comment id="{557145C4-F09A-45E6-ADFF-399307BD0BDA}"/>
              </p228:anchr>
              <p228:date stDt="2026-03-19T01:56:20.249" endDt="2026-03-19T01:56:20.249"/>
            </p228:event>
          </p228:history>
        </p228:taskDetails>
      </p:ext>
    </p188:extLst>
  </p188:cm>
  <p188:cm id="{058C4672-2A8C-47CA-9E9F-C3194910B04B}" authorId="{FE6E1F4E-9B24-6432-6C24-00EF42D02345}" created="2026-03-19T02:05:19.882">
    <ac:txMkLst xmlns:ac="http://schemas.microsoft.com/office/drawing/2013/main/command">
      <pc:docMk xmlns:pc="http://schemas.microsoft.com/office/powerpoint/2013/main/command"/>
      <pc:sldMk xmlns:pc="http://schemas.microsoft.com/office/powerpoint/2013/main/command" cId="710872458" sldId="266"/>
      <ac:spMk id="13" creationId="{615CA8BA-8413-5F8C-3CBC-984EBCBABCF6}"/>
      <ac:txMk cp="619" len="49">
        <ac:context len="1030" hash="1007081225"/>
      </ac:txMk>
    </ac:txMkLst>
    <p188:pos x="5256784" y="1923923"/>
    <p188:txBody>
      <a:bodyPr/>
      <a:lstStyle/>
      <a:p>
        <a:r>
          <a:rPr lang="en-US"/>
          <a:t>Are we supposed to include something here?</a:t>
        </a:r>
      </a:p>
    </p188:txBody>
  </p188:cm>
  <p188:cm id="{6A5E361D-B31B-4F0F-90B0-0A314A311F30}" authorId="{FE6E1F4E-9B24-6432-6C24-00EF42D02345}" created="2026-03-19T02:05:39.488" startDate="2026-03-19T02:05:39.488" dueDate="2026-03-19T02:05:39.488" assignedTo="{7D968337-1405-DEF7-3EBF-0AEF939003C2}" title="@Raffi Freeman ">
    <ac:txMkLst xmlns:ac="http://schemas.microsoft.com/office/drawing/2013/main/command">
      <pc:docMk xmlns:pc="http://schemas.microsoft.com/office/powerpoint/2013/main/command"/>
      <pc:sldMk xmlns:pc="http://schemas.microsoft.com/office/powerpoint/2013/main/command" cId="710872458" sldId="266"/>
      <ac:spMk id="4" creationId="{41992CEB-BAAC-D84C-A861-33790CE1C595}"/>
      <ac:txMk cp="0">
        <ac:context len="1372" hash="2685801549"/>
      </ac:txMk>
    </ac:txMkLst>
    <p188:pos x="4982975" y="1751775"/>
    <p188:txBody>
      <a:bodyPr/>
      <a:lstStyle/>
      <a:p>
        <a:r>
          <a:rPr lang="en-US"/>
          <a:t>[@Raffi Freeman] </a:t>
        </a:r>
      </a:p>
    </p188:txBody>
    <p188:extLst>
      <p:ext xmlns:p="http://schemas.openxmlformats.org/presentationml/2006/main" uri="{5BB2D875-25FF-4072-B9AC-8F64D62656EB}">
        <p228:taskDetails xmlns:p228="http://schemas.microsoft.com/office/powerpoint/2022/08/main">
          <p228:history>
            <p228:event time="2026-03-19T02:05:39.488" id="{E567C29B-E2D4-4264-B7A6-B417D2806C94}">
              <p228:atrbtn authorId="{FE6E1F4E-9B24-6432-6C24-00EF42D02345}"/>
              <p228:anchr>
                <p228:comment id="{6A5E361D-B31B-4F0F-90B0-0A314A311F30}"/>
              </p228:anchr>
              <p228:add/>
            </p228:event>
            <p228:event time="2026-03-19T02:05:39.488" id="{913EE970-E107-4883-9531-FB1958EE7E1A}">
              <p228:atrbtn authorId="{FE6E1F4E-9B24-6432-6C24-00EF42D02345}"/>
              <p228:anchr>
                <p228:comment id="{6A5E361D-B31B-4F0F-90B0-0A314A311F30}"/>
              </p228:anchr>
              <p228:asgn authorId="{7D968337-1405-DEF7-3EBF-0AEF939003C2}"/>
            </p228:event>
            <p228:event time="2026-03-19T02:05:39.488" id="{4C96204D-F5ED-4355-BB16-6CE0ECFC2B1A}">
              <p228:atrbtn authorId="{FE6E1F4E-9B24-6432-6C24-00EF42D02345}"/>
              <p228:anchr>
                <p228:comment id="{6A5E361D-B31B-4F0F-90B0-0A314A311F30}"/>
              </p228:anchr>
              <p228:title val="@Raffi Freeman "/>
            </p228:event>
            <p228:event time="2026-03-19T02:05:39.488" id="{B56EB242-22D3-44D7-AFDD-6B79C508F80B}">
              <p228:atrbtn authorId="{FE6E1F4E-9B24-6432-6C24-00EF42D02345}"/>
              <p228:anchr>
                <p228:comment id="{6A5E361D-B31B-4F0F-90B0-0A314A311F30}"/>
              </p228:anchr>
              <p228:date stDt="2026-03-19T02:05:39.488" endDt="2026-03-19T02:05:39.488"/>
            </p228:event>
          </p228:history>
        </p228:taskDetails>
      </p:ext>
    </p188:extLst>
  </p188:cm>
  <p188:cm id="{DF5F7EE4-02E5-4FF4-834D-64298CDF0E0C}" authorId="{FE6E1F4E-9B24-6432-6C24-00EF42D02345}" created="2026-03-19T02:05:48.358">
    <ac:txMkLst xmlns:ac="http://schemas.microsoft.com/office/drawing/2013/main/command">
      <pc:docMk xmlns:pc="http://schemas.microsoft.com/office/powerpoint/2013/main/command"/>
      <pc:sldMk xmlns:pc="http://schemas.microsoft.com/office/powerpoint/2013/main/command" cId="710872458" sldId="266"/>
      <ac:spMk id="4" creationId="{41992CEB-BAAC-D84C-A861-33790CE1C595}"/>
      <ac:txMk cp="0">
        <ac:context len="1372" hash="2685801549"/>
      </ac:txMk>
    </ac:txMkLst>
    <p188:pos x="5203108" y="2090442"/>
    <p188:txBody>
      <a:bodyPr/>
      <a:lstStyle/>
      <a:p>
        <a:r>
          <a:rPr lang="en-US"/>
          <a:t>Megan or Raffi</a:t>
        </a:r>
      </a:p>
    </p188:txBody>
  </p188:cm>
  <p188:cm id="{1B97D20E-B598-401C-ADA4-E3782D93F53C}" authorId="{FE6E1F4E-9B24-6432-6C24-00EF42D02345}" created="2026-03-19T02:05:59.788">
    <ac:txMkLst xmlns:ac="http://schemas.microsoft.com/office/drawing/2013/main/command">
      <pc:docMk xmlns:pc="http://schemas.microsoft.com/office/powerpoint/2013/main/command"/>
      <pc:sldMk xmlns:pc="http://schemas.microsoft.com/office/powerpoint/2013/main/command" cId="710872458" sldId="266"/>
      <ac:spMk id="4" creationId="{41992CEB-BAAC-D84C-A861-33790CE1C595}"/>
      <ac:txMk cp="0">
        <ac:context len="1372" hash="2685801549"/>
      </ac:txMk>
    </ac:txMkLst>
    <p188:pos x="2807042" y="2420642"/>
    <p188:txBody>
      <a:bodyPr/>
      <a:lstStyle/>
      <a:p>
        <a:r>
          <a:rPr lang="en-US"/>
          <a:t>Megan or Raffi</a:t>
        </a:r>
      </a:p>
    </p188:txBody>
  </p188:cm>
  <p188:cm id="{2AB86147-582B-40DC-AF99-CC25DABC1F74}" authorId="{FE6E1F4E-9B24-6432-6C24-00EF42D02345}" created="2026-03-19T02:06:07.380">
    <ac:txMkLst xmlns:ac="http://schemas.microsoft.com/office/drawing/2013/main/command">
      <pc:docMk xmlns:pc="http://schemas.microsoft.com/office/powerpoint/2013/main/command"/>
      <pc:sldMk xmlns:pc="http://schemas.microsoft.com/office/powerpoint/2013/main/command" cId="710872458" sldId="266"/>
      <ac:spMk id="4" creationId="{41992CEB-BAAC-D84C-A861-33790CE1C595}"/>
      <ac:txMk cp="0">
        <ac:context len="1372" hash="2685801549"/>
      </ac:txMk>
    </ac:txMkLst>
    <p188:pos x="4398775" y="2589975"/>
    <p188:txBody>
      <a:bodyPr/>
      <a:lstStyle/>
      <a:p>
        <a:r>
          <a:rPr lang="en-US"/>
          <a:t>Megan?</a:t>
        </a:r>
      </a:p>
    </p188:txBody>
  </p188:cm>
</p188:cmLst>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B085-3144-421B-89E4-C11835C2967F}"/>
              </a:ext>
            </a:extLst>
          </p:cNvPr>
          <p:cNvSpPr>
            <a:spLocks noGrp="1"/>
          </p:cNvSpPr>
          <p:nvPr>
            <p:ph type="ctrTitle"/>
          </p:nvPr>
        </p:nvSpPr>
        <p:spPr>
          <a:xfrm>
            <a:off x="1524000" y="2767296"/>
            <a:ext cx="9144000" cy="2387600"/>
          </a:xfrm>
        </p:spPr>
        <p:txBody>
          <a:bodyPr anchor="ct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958614-F8BB-4A1A-AC36-93A85DF6EECF}"/>
              </a:ext>
            </a:extLst>
          </p:cNvPr>
          <p:cNvSpPr>
            <a:spLocks noGrp="1"/>
          </p:cNvSpPr>
          <p:nvPr>
            <p:ph type="subTitle" idx="1"/>
          </p:nvPr>
        </p:nvSpPr>
        <p:spPr>
          <a:xfrm>
            <a:off x="1524000" y="5246971"/>
            <a:ext cx="9144000" cy="88050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a:extLst>
              <a:ext uri="{FF2B5EF4-FFF2-40B4-BE49-F238E27FC236}">
                <a16:creationId xmlns:a16="http://schemas.microsoft.com/office/drawing/2014/main" id="{CD147F55-F2CA-1E32-7EC8-B647342F6A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819411" y="304452"/>
            <a:ext cx="2553179" cy="2172722"/>
          </a:xfrm>
          <a:prstGeom prst="rect">
            <a:avLst/>
          </a:prstGeom>
        </p:spPr>
      </p:pic>
    </p:spTree>
    <p:extLst>
      <p:ext uri="{BB962C8B-B14F-4D97-AF65-F5344CB8AC3E}">
        <p14:creationId xmlns:p14="http://schemas.microsoft.com/office/powerpoint/2010/main" val="3935269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FF7CA-27B6-488A-B22F-7E393FC2BB80}"/>
              </a:ext>
            </a:extLst>
          </p:cNvPr>
          <p:cNvSpPr>
            <a:spLocks noGrp="1"/>
          </p:cNvSpPr>
          <p:nvPr>
            <p:ph type="title"/>
          </p:nvPr>
        </p:nvSpPr>
        <p:spPr>
          <a:xfrm>
            <a:off x="1238250" y="365125"/>
            <a:ext cx="1011555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A4C2A8D-A95D-42E7-A9B2-D5450A5D90AB}"/>
              </a:ext>
            </a:extLst>
          </p:cNvPr>
          <p:cNvSpPr>
            <a:spLocks noGrp="1"/>
          </p:cNvSpPr>
          <p:nvPr>
            <p:ph idx="1"/>
          </p:nvPr>
        </p:nvSpPr>
        <p:spPr>
          <a:xfrm>
            <a:off x="1238250" y="1825625"/>
            <a:ext cx="101155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1612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D2C4A-78F0-4168-A40E-F25CFB195D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DD698A-61F2-4CC1-83BD-7258539AAF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42A4F3-6CAD-4D19-89A1-000FBE39DA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42039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alphaModFix amt="42000"/>
            <a:lum/>
          </a:blip>
          <a:srcRect/>
          <a:stretch>
            <a:fillRect b="-2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4C42E1-DAAC-4AD3-ADB3-CEC370E9B1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21428C-377F-432E-9352-5982845105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815A84A3-47C7-4F8F-B14D-F8CABE4F073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1228439" y="173806"/>
            <a:ext cx="802898" cy="683256"/>
          </a:xfrm>
          <a:prstGeom prst="rect">
            <a:avLst/>
          </a:prstGeom>
        </p:spPr>
      </p:pic>
    </p:spTree>
    <p:extLst>
      <p:ext uri="{BB962C8B-B14F-4D97-AF65-F5344CB8AC3E}">
        <p14:creationId xmlns:p14="http://schemas.microsoft.com/office/powerpoint/2010/main" val="2553418570"/>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A_2A5F0D8A.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1368A61-D3D7-9451-7992-9FE0AC4B56D5}"/>
              </a:ext>
            </a:extLst>
          </p:cNvPr>
          <p:cNvSpPr>
            <a:spLocks noGrp="1"/>
          </p:cNvSpPr>
          <p:nvPr>
            <p:ph type="title"/>
          </p:nvPr>
        </p:nvSpPr>
        <p:spPr>
          <a:xfrm>
            <a:off x="649480" y="1034040"/>
            <a:ext cx="11194991" cy="5189477"/>
          </a:xfrm>
        </p:spPr>
        <p:txBody>
          <a:bodyPr>
            <a:normAutofit/>
          </a:bodyPr>
          <a:lstStyle/>
          <a:p>
            <a:pPr algn="ctr">
              <a:lnSpc>
                <a:spcPct val="100000"/>
              </a:lnSpc>
              <a:spcAft>
                <a:spcPct val="0"/>
              </a:spcAft>
              <a:defRPr/>
            </a:pPr>
            <a:r>
              <a:rPr lang="en-US" sz="2400">
                <a:solidFill>
                  <a:srgbClr val="0A4054"/>
                </a:solidFill>
                <a:latin typeface="Arial"/>
                <a:ea typeface="+mn-ea"/>
                <a:cs typeface="Arial"/>
              </a:rPr>
              <a:t>DIBC Request for Project Proposal (RPP)</a:t>
            </a:r>
            <a:br>
              <a:rPr lang="en-US" sz="2400">
                <a:latin typeface="Arial"/>
                <a:ea typeface="+mn-ea"/>
                <a:cs typeface="Arial"/>
              </a:rPr>
            </a:br>
            <a:r>
              <a:rPr lang="en-US" sz="2400">
                <a:solidFill>
                  <a:srgbClr val="0A4054"/>
                </a:solidFill>
                <a:latin typeface="Arial"/>
                <a:ea typeface="+mn-ea"/>
                <a:cs typeface="Arial"/>
              </a:rPr>
              <a:t>RPP-CM-26-01</a:t>
            </a:r>
            <a:br>
              <a:rPr lang="en-US" sz="2400">
                <a:latin typeface="Arial"/>
                <a:ea typeface="+mn-ea"/>
                <a:cs typeface="Arial"/>
              </a:rPr>
            </a:br>
            <a:r>
              <a:rPr lang="en-US" sz="2400">
                <a:solidFill>
                  <a:srgbClr val="FF0000"/>
                </a:solidFill>
                <a:latin typeface="Calibri"/>
                <a:ea typeface="Calibri"/>
                <a:cs typeface="Calibri"/>
              </a:rPr>
              <a:t>Company Name: Nth Cycle Inc</a:t>
            </a:r>
            <a:br>
              <a:rPr lang="en-US" sz="2400">
                <a:latin typeface="Calibri"/>
                <a:ea typeface="Calibri"/>
                <a:cs typeface="Calibri"/>
              </a:rPr>
            </a:br>
            <a:r>
              <a:rPr lang="en-US" sz="2400">
                <a:solidFill>
                  <a:srgbClr val="FF0000"/>
                </a:solidFill>
                <a:latin typeface="Calibri"/>
                <a:ea typeface="Calibri"/>
                <a:cs typeface="Calibri"/>
              </a:rPr>
              <a:t>CAGE: 7Y0F0</a:t>
            </a:r>
            <a:br>
              <a:rPr lang="en-US" sz="2400">
                <a:latin typeface="Calibri"/>
                <a:ea typeface="Calibri"/>
                <a:cs typeface="Calibri"/>
              </a:rPr>
            </a:br>
            <a:r>
              <a:rPr lang="en-US" sz="2400">
                <a:solidFill>
                  <a:srgbClr val="FF0000"/>
                </a:solidFill>
                <a:latin typeface="Calibri"/>
                <a:ea typeface="Calibri"/>
                <a:cs typeface="Calibri"/>
              </a:rPr>
              <a:t>UEI: KDEPLJUB1549</a:t>
            </a:r>
            <a:br>
              <a:rPr lang="en-US" sz="2400">
                <a:latin typeface="Calibri"/>
                <a:ea typeface="Calibri"/>
                <a:cs typeface="Calibri"/>
              </a:rPr>
            </a:br>
            <a:r>
              <a:rPr lang="en-US" sz="2400">
                <a:solidFill>
                  <a:srgbClr val="FF0000"/>
                </a:solidFill>
                <a:latin typeface="Calibri"/>
                <a:ea typeface="Calibri"/>
                <a:cs typeface="Calibri"/>
              </a:rPr>
              <a:t>Project Title: Nth Cycle Enables American Rare Earth Independence</a:t>
            </a:r>
            <a:br>
              <a:rPr lang="en-US" sz="2400">
                <a:solidFill>
                  <a:srgbClr val="FF0000"/>
                </a:solidFill>
                <a:latin typeface="Arial"/>
                <a:ea typeface="+mn-ea"/>
                <a:cs typeface="Arial"/>
              </a:rPr>
            </a:br>
            <a:br>
              <a:rPr lang="en-US" sz="2400">
                <a:solidFill>
                  <a:srgbClr val="FF0000"/>
                </a:solidFill>
                <a:latin typeface="Arial"/>
                <a:ea typeface="+mn-ea"/>
                <a:cs typeface="Arial"/>
              </a:rPr>
            </a:br>
            <a:br>
              <a:rPr lang="en-US" sz="2400">
                <a:solidFill>
                  <a:srgbClr val="FF0000"/>
                </a:solidFill>
                <a:latin typeface="Arial"/>
                <a:ea typeface="+mn-ea"/>
                <a:cs typeface="Arial"/>
              </a:rPr>
            </a:br>
            <a:br>
              <a:rPr lang="en-US" sz="2400">
                <a:solidFill>
                  <a:srgbClr val="FF0000"/>
                </a:solidFill>
                <a:latin typeface="Arial"/>
                <a:ea typeface="+mn-ea"/>
                <a:cs typeface="Arial"/>
              </a:rPr>
            </a:br>
            <a:br>
              <a:rPr lang="en-US" sz="2400">
                <a:solidFill>
                  <a:srgbClr val="FF0000"/>
                </a:solidFill>
                <a:latin typeface="Arial"/>
                <a:ea typeface="+mn-ea"/>
                <a:cs typeface="Arial"/>
              </a:rPr>
            </a:br>
            <a:br>
              <a:rPr lang="en-US" sz="2400">
                <a:solidFill>
                  <a:srgbClr val="FF0000"/>
                </a:solidFill>
                <a:latin typeface="Arial"/>
                <a:ea typeface="+mn-ea"/>
                <a:cs typeface="Arial"/>
              </a:rPr>
            </a:br>
            <a:r>
              <a:rPr lang="en-US" sz="1400">
                <a:solidFill>
                  <a:srgbClr val="0A4054"/>
                </a:solidFill>
                <a:latin typeface="Arial"/>
                <a:ea typeface="+mn-ea"/>
                <a:cs typeface="Arial"/>
              </a:rPr>
              <a:t>Anticipated Security Level: Unclassified, however Controlled Technical Information and/or Controlled Unclassified Information may be required.</a:t>
            </a:r>
            <a:br>
              <a:rPr lang="en-US" sz="2400">
                <a:latin typeface="Arial"/>
                <a:cs typeface="Arial"/>
              </a:rPr>
            </a:br>
            <a:endParaRPr lang="en-US" sz="2400">
              <a:latin typeface="Arial"/>
              <a:ea typeface="+mn-ea"/>
              <a:cs typeface="Arial"/>
            </a:endParaRPr>
          </a:p>
        </p:txBody>
      </p:sp>
    </p:spTree>
    <p:extLst>
      <p:ext uri="{BB962C8B-B14F-4D97-AF65-F5344CB8AC3E}">
        <p14:creationId xmlns:p14="http://schemas.microsoft.com/office/powerpoint/2010/main" val="559829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0C37545-167F-535B-851C-3161E7B60E31}"/>
              </a:ext>
            </a:extLst>
          </p:cNvPr>
          <p:cNvCxnSpPr>
            <a:cxnSpLocks/>
          </p:cNvCxnSpPr>
          <p:nvPr/>
        </p:nvCxnSpPr>
        <p:spPr>
          <a:xfrm>
            <a:off x="5899848" y="0"/>
            <a:ext cx="0" cy="685800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CE0DBE3-68D8-EBC2-7CBA-EABE30D57525}"/>
              </a:ext>
            </a:extLst>
          </p:cNvPr>
          <p:cNvCxnSpPr>
            <a:cxnSpLocks/>
          </p:cNvCxnSpPr>
          <p:nvPr/>
        </p:nvCxnSpPr>
        <p:spPr>
          <a:xfrm flipH="1">
            <a:off x="0" y="3429000"/>
            <a:ext cx="121920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F612CFC-40A3-7D3D-9E43-635ADA4EA5F1}"/>
              </a:ext>
            </a:extLst>
          </p:cNvPr>
          <p:cNvSpPr txBox="1"/>
          <p:nvPr/>
        </p:nvSpPr>
        <p:spPr>
          <a:xfrm>
            <a:off x="676474" y="-1556"/>
            <a:ext cx="4753086" cy="276999"/>
          </a:xfrm>
          <a:prstGeom prst="rect">
            <a:avLst/>
          </a:prstGeom>
          <a:solidFill>
            <a:schemeClr val="tx1">
              <a:lumMod val="75000"/>
              <a:lumOff val="25000"/>
            </a:schemeClr>
          </a:solidFill>
          <a:ln>
            <a:solidFill>
              <a:schemeClr val="tx1">
                <a:lumMod val="75000"/>
                <a:lumOff val="25000"/>
              </a:schemeClr>
            </a:solidFill>
          </a:ln>
        </p:spPr>
        <p:txBody>
          <a:bodyPr wrap="square" lIns="91440" tIns="45720" rIns="91440" bIns="45720" rtlCol="0" anchor="t">
            <a:spAutoFit/>
          </a:bodyPr>
          <a:lstStyle/>
          <a:p>
            <a:pPr algn="ctr"/>
            <a:r>
              <a:rPr lang="en-US" sz="1200" b="1">
                <a:solidFill>
                  <a:srgbClr val="FFFFFF"/>
                </a:solidFill>
                <a:latin typeface="Arial"/>
                <a:cs typeface="Arial"/>
              </a:rPr>
              <a:t>Proposed Solution</a:t>
            </a:r>
          </a:p>
        </p:txBody>
      </p:sp>
      <p:sp>
        <p:nvSpPr>
          <p:cNvPr id="9" name="TextBox 8">
            <a:extLst>
              <a:ext uri="{FF2B5EF4-FFF2-40B4-BE49-F238E27FC236}">
                <a16:creationId xmlns:a16="http://schemas.microsoft.com/office/drawing/2014/main" id="{00344895-663B-2DD0-0E3F-78C771259734}"/>
              </a:ext>
            </a:extLst>
          </p:cNvPr>
          <p:cNvSpPr txBox="1"/>
          <p:nvPr/>
        </p:nvSpPr>
        <p:spPr>
          <a:xfrm>
            <a:off x="6588656" y="-1797"/>
            <a:ext cx="4757742" cy="276999"/>
          </a:xfrm>
          <a:prstGeom prst="rect">
            <a:avLst/>
          </a:prstGeom>
          <a:solidFill>
            <a:schemeClr val="tx1">
              <a:lumMod val="75000"/>
              <a:lumOff val="25000"/>
            </a:schemeClr>
          </a:solidFill>
          <a:ln>
            <a:solidFill>
              <a:schemeClr val="tx1">
                <a:lumMod val="75000"/>
                <a:lumOff val="25000"/>
              </a:schemeClr>
            </a:solid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Arial"/>
              </a:rPr>
              <a:t>Company Viability and Expertise</a:t>
            </a:r>
          </a:p>
        </p:txBody>
      </p:sp>
      <p:sp>
        <p:nvSpPr>
          <p:cNvPr id="11" name="TextBox 10">
            <a:extLst>
              <a:ext uri="{FF2B5EF4-FFF2-40B4-BE49-F238E27FC236}">
                <a16:creationId xmlns:a16="http://schemas.microsoft.com/office/drawing/2014/main" id="{28F353D7-7FC7-89B3-6BB4-12EB17ACAE23}"/>
              </a:ext>
            </a:extLst>
          </p:cNvPr>
          <p:cNvSpPr txBox="1"/>
          <p:nvPr/>
        </p:nvSpPr>
        <p:spPr>
          <a:xfrm>
            <a:off x="667118" y="3429209"/>
            <a:ext cx="4757550" cy="276999"/>
          </a:xfrm>
          <a:prstGeom prst="rect">
            <a:avLst/>
          </a:prstGeom>
          <a:solidFill>
            <a:schemeClr val="tx1">
              <a:lumMod val="75000"/>
              <a:lumOff val="25000"/>
            </a:schemeClr>
          </a:solidFill>
          <a:ln>
            <a:solidFill>
              <a:schemeClr val="tx1">
                <a:lumMod val="75000"/>
                <a:lumOff val="25000"/>
              </a:schemeClr>
            </a:solidFill>
          </a:ln>
        </p:spPr>
        <p:txBody>
          <a:bodyPr wrap="square" lIns="91440" tIns="45720" rIns="91440" bIns="45720" rtlCol="0" anchor="t">
            <a:spAutoFit/>
          </a:bodyPr>
          <a:lstStyle/>
          <a:p>
            <a:pPr algn="ctr"/>
            <a:r>
              <a:rPr lang="en-US" sz="1200" b="1">
                <a:solidFill>
                  <a:srgbClr val="FFFFFF"/>
                </a:solidFill>
                <a:latin typeface="Arial"/>
                <a:cs typeface="Arial"/>
              </a:rPr>
              <a:t>Schedule of Major Milestones</a:t>
            </a:r>
            <a:endParaRPr lang="en-US"/>
          </a:p>
        </p:txBody>
      </p:sp>
      <p:sp>
        <p:nvSpPr>
          <p:cNvPr id="12" name="TextBox 11">
            <a:extLst>
              <a:ext uri="{FF2B5EF4-FFF2-40B4-BE49-F238E27FC236}">
                <a16:creationId xmlns:a16="http://schemas.microsoft.com/office/drawing/2014/main" id="{96403D18-6CF2-3A82-304F-9A41FACEE8C0}"/>
              </a:ext>
            </a:extLst>
          </p:cNvPr>
          <p:cNvSpPr txBox="1"/>
          <p:nvPr/>
        </p:nvSpPr>
        <p:spPr>
          <a:xfrm>
            <a:off x="0" y="290640"/>
            <a:ext cx="5899847" cy="3170099"/>
          </a:xfrm>
          <a:prstGeom prst="rect">
            <a:avLst/>
          </a:prstGeom>
          <a:noFill/>
        </p:spPr>
        <p:txBody>
          <a:bodyPr wrap="square" lIns="91440" tIns="45720" rIns="91440" bIns="45720" rtlCol="0" anchor="t">
            <a:spAutoFit/>
          </a:bodyPr>
          <a:lstStyle/>
          <a:p>
            <a:pPr marL="285750" indent="-285750">
              <a:lnSpc>
                <a:spcPts val="1240"/>
              </a:lnSpc>
              <a:buFont typeface="Arial" panose="020B0604020202020204" pitchFamily="34" charset="0"/>
              <a:buChar char="•"/>
            </a:pPr>
            <a:r>
              <a:rPr lang="en-US" sz="1100" b="1" dirty="0">
                <a:latin typeface="Arial"/>
                <a:cs typeface="Arial"/>
              </a:rPr>
              <a:t>Proposed Project (AOI 6).</a:t>
            </a:r>
            <a:r>
              <a:rPr lang="en-US" sz="1100" dirty="0">
                <a:latin typeface="Arial"/>
                <a:cs typeface="Arial"/>
              </a:rPr>
              <a:t> Nth Cycle estimates domestic REO refining capacity to be 40,000 </a:t>
            </a:r>
            <a:r>
              <a:rPr lang="en-US" sz="1100" dirty="0" err="1">
                <a:latin typeface="Arial"/>
                <a:cs typeface="Arial"/>
              </a:rPr>
              <a:t>tonnes</a:t>
            </a:r>
            <a:r>
              <a:rPr lang="en-US" sz="1100" dirty="0">
                <a:latin typeface="Arial"/>
                <a:cs typeface="Arial"/>
              </a:rPr>
              <a:t> REO per year by 2030.  Rare earth elements are typically precipitated using oxalic acid and China dominates global oxalic acid production. </a:t>
            </a:r>
          </a:p>
          <a:p>
            <a:pPr marL="285750" indent="-285750">
              <a:lnSpc>
                <a:spcPts val="1240"/>
              </a:lnSpc>
              <a:buFont typeface="Arial" panose="020B0604020202020204" pitchFamily="34" charset="0"/>
              <a:buChar char="•"/>
            </a:pPr>
            <a:r>
              <a:rPr lang="en-US" sz="1100" b="1" dirty="0">
                <a:latin typeface="Arial"/>
                <a:cs typeface="Arial"/>
              </a:rPr>
              <a:t>Unique Solution. </a:t>
            </a:r>
            <a:r>
              <a:rPr lang="en-US" sz="1100" dirty="0">
                <a:latin typeface="Arial"/>
                <a:cs typeface="Arial"/>
              </a:rPr>
              <a:t>Nth Cycle's proposed project here would be to deploy Nth Cycle’s electroextraction technology for rare earth precipitation at most, if not all, of the projected domestic rare earth refineries, eliminating reliance on oxalic acid sourced heavily from China.</a:t>
            </a:r>
            <a:endParaRPr lang="en-US" dirty="0">
              <a:latin typeface="Franklin Gothic Medium Cond"/>
              <a:cs typeface="Arial"/>
            </a:endParaRPr>
          </a:p>
          <a:p>
            <a:pPr marL="285750" indent="-285750">
              <a:lnSpc>
                <a:spcPts val="1240"/>
              </a:lnSpc>
              <a:buFont typeface="Arial" panose="020B0604020202020204" pitchFamily="34" charset="0"/>
              <a:buChar char="•"/>
            </a:pPr>
            <a:r>
              <a:rPr lang="en-US" sz="1100" b="1" dirty="0">
                <a:latin typeface="Arial"/>
                <a:cs typeface="Arial"/>
              </a:rPr>
              <a:t>Key Innovations. </a:t>
            </a:r>
            <a:r>
              <a:rPr lang="en-US" sz="1100" dirty="0">
                <a:latin typeface="Arial"/>
                <a:cs typeface="Arial"/>
              </a:rPr>
              <a:t>Nth Cycle's proprietary electroextraction technology replaces single-use chemical consumables with electricity and process salt water, which significantly reduces operating costs classically associated with chemical consumption, water consumption, and liquid/solid waste production.   </a:t>
            </a:r>
            <a:endParaRPr lang="en-US" dirty="0"/>
          </a:p>
          <a:p>
            <a:pPr marL="742950" lvl="1" indent="-285750">
              <a:lnSpc>
                <a:spcPts val="1240"/>
              </a:lnSpc>
              <a:buFont typeface="Arial" panose="020B0604020202020204" pitchFamily="34" charset="0"/>
              <a:buChar char="•"/>
            </a:pPr>
            <a:r>
              <a:rPr lang="en-US" sz="1100" dirty="0">
                <a:latin typeface="Arial"/>
                <a:cs typeface="Arial"/>
              </a:rPr>
              <a:t>Nth Cycle's technology will replace the oxalic acid precipitation while simultaneously regenerating hydrochloric acid, reducing </a:t>
            </a:r>
            <a:r>
              <a:rPr lang="en-US" sz="1100" dirty="0" err="1">
                <a:latin typeface="Arial"/>
                <a:cs typeface="Arial"/>
              </a:rPr>
              <a:t>opex</a:t>
            </a:r>
            <a:r>
              <a:rPr lang="en-US" sz="1100" dirty="0">
                <a:latin typeface="Arial"/>
                <a:cs typeface="Arial"/>
              </a:rPr>
              <a:t> by up to 50% while eliminating a major supply chain risk.</a:t>
            </a:r>
          </a:p>
          <a:p>
            <a:pPr marL="742950" lvl="1" indent="-285750">
              <a:lnSpc>
                <a:spcPts val="1240"/>
              </a:lnSpc>
              <a:buFont typeface="Arial" panose="020B0604020202020204" pitchFamily="34" charset="0"/>
              <a:buChar char="•"/>
            </a:pPr>
            <a:r>
              <a:rPr lang="en-US" sz="1100" b="1" dirty="0">
                <a:latin typeface="Arial"/>
                <a:cs typeface="Arial"/>
              </a:rPr>
              <a:t>Readiness </a:t>
            </a:r>
            <a:r>
              <a:rPr lang="en-US" sz="1100" b="1" dirty="0" err="1">
                <a:latin typeface="Arial"/>
                <a:cs typeface="Arial"/>
              </a:rPr>
              <a:t>Level.</a:t>
            </a:r>
            <a:r>
              <a:rPr lang="en-US" sz="1100" dirty="0" err="1">
                <a:latin typeface="Arial"/>
                <a:cs typeface="Arial"/>
              </a:rPr>
              <a:t>The</a:t>
            </a:r>
            <a:r>
              <a:rPr lang="en-US" sz="1100" dirty="0">
                <a:latin typeface="Arial"/>
                <a:cs typeface="Arial"/>
              </a:rPr>
              <a:t> starting TRL is 7 and MRL is 8. At the end of project TRL and MRL would be 9. </a:t>
            </a:r>
          </a:p>
          <a:p>
            <a:pPr marL="285750" indent="-285750">
              <a:lnSpc>
                <a:spcPts val="1240"/>
              </a:lnSpc>
              <a:buFont typeface="Arial" panose="020B0604020202020204" pitchFamily="34" charset="0"/>
              <a:buChar char="•"/>
            </a:pPr>
            <a:r>
              <a:rPr lang="en-US" sz="1100" b="1" dirty="0">
                <a:latin typeface="Arial" panose="020B0604020202020204" pitchFamily="34" charset="0"/>
                <a:cs typeface="Arial" panose="020B0604020202020204" pitchFamily="34" charset="0"/>
              </a:rPr>
              <a:t>Rare earth elements</a:t>
            </a:r>
            <a:r>
              <a:rPr lang="en-US" sz="1100" dirty="0">
                <a:latin typeface="Arial" panose="020B0604020202020204" pitchFamily="34" charset="0"/>
                <a:cs typeface="Arial" panose="020B0604020202020204" pitchFamily="34" charset="0"/>
              </a:rPr>
              <a:t> are critical to DOW because they are essential to the magnets, metals, and components used across advanced military systems, and the Department has prioritized building a domestic mine-to-magnet supply chain to strengthen defense readiness and supply security.</a:t>
            </a:r>
          </a:p>
        </p:txBody>
      </p:sp>
      <p:sp>
        <p:nvSpPr>
          <p:cNvPr id="13" name="TextBox 12">
            <a:extLst>
              <a:ext uri="{FF2B5EF4-FFF2-40B4-BE49-F238E27FC236}">
                <a16:creationId xmlns:a16="http://schemas.microsoft.com/office/drawing/2014/main" id="{615CA8BA-8413-5F8C-3CBC-984EBCBABCF6}"/>
              </a:ext>
            </a:extLst>
          </p:cNvPr>
          <p:cNvSpPr txBox="1"/>
          <p:nvPr/>
        </p:nvSpPr>
        <p:spPr>
          <a:xfrm>
            <a:off x="356616" y="3687901"/>
            <a:ext cx="5645528" cy="3170099"/>
          </a:xfrm>
          <a:prstGeom prst="rect">
            <a:avLst/>
          </a:prstGeom>
          <a:noFill/>
        </p:spPr>
        <p:txBody>
          <a:bodyPr wrap="square" lIns="91440" tIns="45720" rIns="91440" bIns="45720" rtlCol="0" anchor="t">
            <a:spAutoFit/>
          </a:bodyPr>
          <a:lstStyle>
            <a:defPPr>
              <a:defRPr lang="en-US"/>
            </a:defPPr>
            <a:lvl1pPr marL="285750" indent="-285750">
              <a:buFont typeface="Arial" panose="020B0604020202020204" pitchFamily="34" charset="0"/>
              <a:buChar char="•"/>
              <a:defRPr sz="1100">
                <a:solidFill>
                  <a:srgbClr val="0A4054"/>
                </a:solidFill>
                <a:latin typeface="Arial"/>
                <a:cs typeface="Arial"/>
              </a:defRPr>
            </a:lvl1pPr>
            <a:lvl2pPr marL="742950" lvl="1" indent="-285750">
              <a:buFont typeface="Arial" panose="020B0604020202020204" pitchFamily="34" charset="0"/>
              <a:buChar char="•"/>
              <a:defRPr sz="1100">
                <a:latin typeface="Arial"/>
                <a:cs typeface="Arial"/>
              </a:defRPr>
            </a:lvl2pPr>
          </a:lstStyle>
          <a:p>
            <a:r>
              <a:rPr lang="en-US" sz="1000" b="1" dirty="0"/>
              <a:t>Project Schedule:</a:t>
            </a:r>
          </a:p>
          <a:p>
            <a:pPr lvl="1"/>
            <a:r>
              <a:rPr lang="en-US" sz="1000" dirty="0"/>
              <a:t>The period of performance will be 24 months (Q3 2026-Q2 2028).</a:t>
            </a:r>
          </a:p>
          <a:p>
            <a:pPr lvl="1"/>
            <a:r>
              <a:rPr lang="en-US" sz="1000" b="1" dirty="0"/>
              <a:t>Project Timeline:</a:t>
            </a:r>
          </a:p>
          <a:p>
            <a:pPr marL="1085850" lvl="2" indent="-171450">
              <a:buFont typeface="Arial" panose="020B0604020202020204" pitchFamily="34" charset="0"/>
              <a:buChar char="•"/>
            </a:pPr>
            <a:r>
              <a:rPr lang="en-US" sz="1000" dirty="0">
                <a:latin typeface="Arial"/>
                <a:cs typeface="Arial"/>
              </a:rPr>
              <a:t>Development, feasibility, and partner discussions are underway;</a:t>
            </a:r>
          </a:p>
          <a:p>
            <a:pPr marL="1085850" lvl="2" indent="-171450">
              <a:buFont typeface="Arial" panose="020B0604020202020204" pitchFamily="34" charset="0"/>
              <a:buChar char="•"/>
            </a:pPr>
            <a:r>
              <a:rPr lang="en-US" sz="1000" dirty="0">
                <a:latin typeface="Arial"/>
                <a:cs typeface="Arial"/>
              </a:rPr>
              <a:t>Phase 1. Core RE technology engineering, procurement, and construction (Q2 2026-Q4 2027);</a:t>
            </a:r>
            <a:endParaRPr lang="en-US" sz="1400" dirty="0"/>
          </a:p>
          <a:p>
            <a:pPr marL="1085850" lvl="2" indent="-171450">
              <a:buFont typeface="Arial" panose="020B0604020202020204" pitchFamily="34" charset="0"/>
              <a:buChar char="•"/>
            </a:pPr>
            <a:r>
              <a:rPr lang="en-US" sz="1000" dirty="0">
                <a:latin typeface="Arial"/>
                <a:cs typeface="Arial"/>
              </a:rPr>
              <a:t>Phase 2. Core RE technology deployment at partner sites (beginning Q4 2027).</a:t>
            </a:r>
            <a:endParaRPr lang="en-US" sz="1400" dirty="0"/>
          </a:p>
          <a:p>
            <a:pPr lvl="1"/>
            <a:r>
              <a:rPr lang="en-US" sz="1000" b="1" dirty="0"/>
              <a:t>Project Key Deliverables and Milestones:</a:t>
            </a:r>
          </a:p>
          <a:p>
            <a:pPr marL="1085850" lvl="2" indent="-171450">
              <a:buFont typeface="Arial" panose="020B0604020202020204" pitchFamily="34" charset="0"/>
              <a:buChar char="•"/>
            </a:pPr>
            <a:r>
              <a:rPr lang="en-US" sz="1000" dirty="0">
                <a:latin typeface="Arial"/>
                <a:cs typeface="Arial"/>
              </a:rPr>
              <a:t>Phase 1. Core RE technology validated at scale (Q4 2027); </a:t>
            </a:r>
          </a:p>
          <a:p>
            <a:pPr marL="1085850" lvl="2" indent="-171450">
              <a:buFont typeface="Arial" panose="020B0604020202020204" pitchFamily="34" charset="0"/>
              <a:buChar char="•"/>
            </a:pPr>
            <a:r>
              <a:rPr lang="en-US" sz="1000" dirty="0">
                <a:latin typeface="Arial"/>
                <a:cs typeface="Arial"/>
              </a:rPr>
              <a:t>Phase 2. Commercial deployment with first partner (Q4 2027).</a:t>
            </a:r>
            <a:endParaRPr lang="en-US" sz="1400" dirty="0"/>
          </a:p>
          <a:p>
            <a:pPr lvl="1"/>
            <a:r>
              <a:rPr lang="en-US" sz="1000" dirty="0"/>
              <a:t>Include existing or future anticipated environmental expense hurdles</a:t>
            </a:r>
          </a:p>
          <a:p>
            <a:r>
              <a:rPr lang="en-US" sz="1000" b="1" dirty="0"/>
              <a:t>A Rough Order of Magnitude (ROM) cost estimate is $</a:t>
            </a:r>
            <a:r>
              <a:rPr lang="en-US" sz="1000" b="1"/>
              <a:t>250M</a:t>
            </a:r>
            <a:r>
              <a:rPr lang="en-US" sz="1000" b="1" dirty="0"/>
              <a:t>.</a:t>
            </a:r>
            <a:r>
              <a:rPr lang="en-US" sz="1000" dirty="0"/>
              <a:t>  </a:t>
            </a:r>
          </a:p>
          <a:p>
            <a:pPr lvl="1"/>
            <a:r>
              <a:rPr lang="en-US" sz="1000" dirty="0"/>
              <a:t>$50M in Development and $200M in tech deployments</a:t>
            </a:r>
          </a:p>
          <a:p>
            <a:pPr lvl="1"/>
            <a:r>
              <a:rPr lang="en-US" sz="1000" b="1" dirty="0"/>
              <a:t>Identify resource sharing: </a:t>
            </a:r>
            <a:r>
              <a:rPr lang="en-US" sz="1000" dirty="0"/>
              <a:t>We have signed a JDA with Ionic RE on integrating our tech into their flowsheet for this application</a:t>
            </a:r>
          </a:p>
          <a:p>
            <a:pPr lvl="1"/>
            <a:r>
              <a:rPr lang="en-US" sz="1000" dirty="0"/>
              <a:t>We hired a financial advisor and have commenced a </a:t>
            </a:r>
            <a:r>
              <a:rPr lang="en-US" sz="1000" dirty="0" err="1"/>
              <a:t>deSPAC</a:t>
            </a:r>
            <a:r>
              <a:rPr lang="en-US" sz="1000" dirty="0"/>
              <a:t>, which we expect to close by Nov 2026. Expected proceeds from transaction are &gt;$200M, and through a combination of this corporate equity and debt we will cover our cost share</a:t>
            </a:r>
          </a:p>
          <a:p>
            <a:pPr lvl="1"/>
            <a:endParaRPr lang="en-US" sz="1000" dirty="0"/>
          </a:p>
        </p:txBody>
      </p:sp>
      <p:sp>
        <p:nvSpPr>
          <p:cNvPr id="27" name="TextBox 26">
            <a:extLst>
              <a:ext uri="{FF2B5EF4-FFF2-40B4-BE49-F238E27FC236}">
                <a16:creationId xmlns:a16="http://schemas.microsoft.com/office/drawing/2014/main" id="{E88810D8-350B-F67F-9331-72C9CB94D8F9}"/>
              </a:ext>
            </a:extLst>
          </p:cNvPr>
          <p:cNvSpPr txBox="1"/>
          <p:nvPr/>
        </p:nvSpPr>
        <p:spPr>
          <a:xfrm>
            <a:off x="5424668" y="6641779"/>
            <a:ext cx="2706155" cy="246221"/>
          </a:xfrm>
          <a:prstGeom prst="rect">
            <a:avLst/>
          </a:prstGeom>
          <a:noFill/>
        </p:spPr>
        <p:txBody>
          <a:bodyPr wrap="square">
            <a:spAutoFit/>
          </a:bodyPr>
          <a:lstStyle/>
          <a:p>
            <a:r>
              <a:rPr lang="en-US" sz="1000" b="1" u="sng" dirty="0">
                <a:solidFill>
                  <a:srgbClr val="FF0000"/>
                </a:solidFill>
                <a:latin typeface="Arial" pitchFamily="34" charset="0"/>
                <a:cs typeface="Arial" pitchFamily="34" charset="0"/>
              </a:rPr>
              <a:t>Proprietary</a:t>
            </a:r>
            <a:endParaRPr lang="en-US" sz="1000" dirty="0"/>
          </a:p>
        </p:txBody>
      </p:sp>
      <p:sp>
        <p:nvSpPr>
          <p:cNvPr id="2" name="TextBox 1">
            <a:extLst>
              <a:ext uri="{FF2B5EF4-FFF2-40B4-BE49-F238E27FC236}">
                <a16:creationId xmlns:a16="http://schemas.microsoft.com/office/drawing/2014/main" id="{F062884B-E297-988C-44AC-D4283093AF34}"/>
              </a:ext>
            </a:extLst>
          </p:cNvPr>
          <p:cNvSpPr txBox="1"/>
          <p:nvPr/>
        </p:nvSpPr>
        <p:spPr>
          <a:xfrm>
            <a:off x="5837103" y="3655343"/>
            <a:ext cx="6354892" cy="280076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100" b="1" dirty="0">
                <a:latin typeface="Arial"/>
                <a:cs typeface="Arial"/>
              </a:rPr>
              <a:t>Critical Supply Chain Relationships.</a:t>
            </a:r>
            <a:r>
              <a:rPr lang="en-US" sz="1100" dirty="0">
                <a:latin typeface="Arial"/>
                <a:cs typeface="Arial"/>
              </a:rPr>
              <a:t> For the rare earth elements (REE) supply chain, Nth Cycle’s technology is a drop-in solution that refiners can use to significantly reduce project costs, dependence on China for chemical consumables like oxalic acid, and permitting time needed to stand up processing facilities. Our business model is licensing or leasing, so working with companies who have already secured feedstock and offtake.</a:t>
            </a:r>
          </a:p>
          <a:p>
            <a:pPr marL="285750" indent="-285750">
              <a:buFont typeface="Arial" panose="020B0604020202020204" pitchFamily="34" charset="0"/>
              <a:buChar char="•"/>
            </a:pPr>
            <a:endParaRPr lang="en-US" sz="1100" dirty="0">
              <a:latin typeface="Arial"/>
              <a:cs typeface="Arial"/>
            </a:endParaRPr>
          </a:p>
          <a:p>
            <a:pPr marL="285750" indent="-285750">
              <a:buFont typeface="Arial" panose="020B0604020202020204" pitchFamily="34" charset="0"/>
              <a:buChar char="•"/>
            </a:pPr>
            <a:r>
              <a:rPr lang="en-US" sz="1100" b="1" dirty="0">
                <a:latin typeface="Arial"/>
                <a:cs typeface="Arial"/>
              </a:rPr>
              <a:t>Partner </a:t>
            </a:r>
            <a:r>
              <a:rPr lang="en-US" sz="1100" b="1" dirty="0">
                <a:solidFill>
                  <a:srgbClr val="0A4054"/>
                </a:solidFill>
                <a:latin typeface="Arial"/>
                <a:cs typeface="Arial"/>
              </a:rPr>
              <a:t>Relationships.</a:t>
            </a:r>
            <a:r>
              <a:rPr lang="en-US" sz="1100" dirty="0">
                <a:solidFill>
                  <a:srgbClr val="0A4054"/>
                </a:solidFill>
                <a:latin typeface="Arial"/>
                <a:cs typeface="Arial"/>
              </a:rPr>
              <a:t> Joint Development Agreement was signed with Ionic RE Technologies and in negotiations with </a:t>
            </a:r>
            <a:r>
              <a:rPr lang="en-US" sz="1100" dirty="0" err="1">
                <a:solidFill>
                  <a:srgbClr val="0A4054"/>
                </a:solidFill>
                <a:latin typeface="Arial"/>
                <a:cs typeface="Arial"/>
              </a:rPr>
              <a:t>Mkango</a:t>
            </a:r>
            <a:r>
              <a:rPr lang="en-US" sz="1100" dirty="0">
                <a:solidFill>
                  <a:srgbClr val="0A4054"/>
                </a:solidFill>
                <a:latin typeface="Arial"/>
                <a:cs typeface="Arial"/>
              </a:rPr>
              <a:t> Resources. Non Disclosure Agreements (NDAs)/MOUs have been signed or are being negotiated with MP Materials, </a:t>
            </a:r>
            <a:r>
              <a:rPr lang="en-US" sz="1100" dirty="0" err="1">
                <a:solidFill>
                  <a:srgbClr val="0A4054"/>
                </a:solidFill>
                <a:latin typeface="Arial"/>
                <a:cs typeface="Arial"/>
              </a:rPr>
              <a:t>ReElement</a:t>
            </a:r>
            <a:r>
              <a:rPr lang="en-US" sz="1100" dirty="0">
                <a:solidFill>
                  <a:srgbClr val="0A4054"/>
                </a:solidFill>
                <a:latin typeface="Arial"/>
                <a:cs typeface="Arial"/>
              </a:rPr>
              <a:t> Technologies, Rare Earth Technologies, Solvay, and U.S. Strategic Metals (USSM).</a:t>
            </a:r>
          </a:p>
          <a:p>
            <a:pPr marL="285750" indent="-285750">
              <a:buFont typeface="Arial" panose="020B0604020202020204" pitchFamily="34" charset="0"/>
              <a:buChar char="•"/>
            </a:pPr>
            <a:endParaRPr lang="en-US" sz="1100" dirty="0">
              <a:latin typeface="Arial"/>
              <a:cs typeface="Arial"/>
            </a:endParaRPr>
          </a:p>
          <a:p>
            <a:pPr marL="285750" indent="-285750">
              <a:buFont typeface="Arial" panose="020B0604020202020204" pitchFamily="34" charset="0"/>
              <a:buChar char="•"/>
            </a:pPr>
            <a:r>
              <a:rPr lang="en-US" sz="1100" b="1" dirty="0">
                <a:latin typeface="Arial"/>
                <a:cs typeface="Arial"/>
              </a:rPr>
              <a:t>Infrastructure and Facilities. </a:t>
            </a:r>
            <a:r>
              <a:rPr lang="en-US" sz="1100" dirty="0">
                <a:latin typeface="Arial"/>
                <a:cs typeface="Arial"/>
              </a:rPr>
              <a:t>Nth Cycle's headquarters are in Burlington, MA. Black mass refining demonstration facility in Fairfield, OH. Electroextraction stack assembly facility in Portsmouth, NH. The rare earth electroextraction stacks will be deployed on partner sites, for example, Ionic Rare Earth's site at US Strategic Metals Fredericktown, MO fully permitted private land site.</a:t>
            </a:r>
            <a:endParaRPr lang="en-US" sz="1100" dirty="0">
              <a:highlight>
                <a:srgbClr val="FFFF00"/>
              </a:highlight>
              <a:latin typeface="Arial"/>
              <a:cs typeface="Arial"/>
            </a:endParaRPr>
          </a:p>
        </p:txBody>
      </p:sp>
      <p:sp>
        <p:nvSpPr>
          <p:cNvPr id="3" name="TextBox 2">
            <a:extLst>
              <a:ext uri="{FF2B5EF4-FFF2-40B4-BE49-F238E27FC236}">
                <a16:creationId xmlns:a16="http://schemas.microsoft.com/office/drawing/2014/main" id="{89D6D0BA-AC8A-D045-9EBB-FD9C8462E14D}"/>
              </a:ext>
            </a:extLst>
          </p:cNvPr>
          <p:cNvSpPr txBox="1"/>
          <p:nvPr/>
        </p:nvSpPr>
        <p:spPr>
          <a:xfrm>
            <a:off x="6583480" y="3433910"/>
            <a:ext cx="4758133" cy="276999"/>
          </a:xfrm>
          <a:prstGeom prst="rect">
            <a:avLst/>
          </a:prstGeom>
          <a:solidFill>
            <a:schemeClr val="tx1">
              <a:lumMod val="75000"/>
              <a:lumOff val="25000"/>
            </a:schemeClr>
          </a:solidFill>
          <a:ln>
            <a:solidFill>
              <a:schemeClr val="tx1">
                <a:lumMod val="75000"/>
                <a:lumOff val="25000"/>
              </a:schemeClr>
            </a:solidFill>
          </a:ln>
        </p:spPr>
        <p:txBody>
          <a:bodyPr wrap="square" lIns="91440" tIns="45720" rIns="91440" bIns="45720" rtlCol="0" anchor="t">
            <a:spAutoFit/>
          </a:bodyPr>
          <a:lstStyle/>
          <a:p>
            <a:pPr algn="ctr"/>
            <a:r>
              <a:rPr lang="en-US" sz="1200" b="1">
                <a:solidFill>
                  <a:srgbClr val="FFFFFF"/>
                </a:solidFill>
                <a:latin typeface="Arial"/>
                <a:cs typeface="Arial"/>
              </a:rPr>
              <a:t>Supply Chain Integration</a:t>
            </a:r>
            <a:endParaRPr lang="en-US"/>
          </a:p>
        </p:txBody>
      </p:sp>
      <p:sp>
        <p:nvSpPr>
          <p:cNvPr id="4" name="TextBox 3">
            <a:extLst>
              <a:ext uri="{FF2B5EF4-FFF2-40B4-BE49-F238E27FC236}">
                <a16:creationId xmlns:a16="http://schemas.microsoft.com/office/drawing/2014/main" id="{41992CEB-BAAC-D84C-A861-33790CE1C595}"/>
              </a:ext>
            </a:extLst>
          </p:cNvPr>
          <p:cNvSpPr txBox="1"/>
          <p:nvPr/>
        </p:nvSpPr>
        <p:spPr>
          <a:xfrm>
            <a:off x="6091424" y="373358"/>
            <a:ext cx="6100575" cy="3247043"/>
          </a:xfrm>
          <a:prstGeom prst="rect">
            <a:avLst/>
          </a:prstGeom>
          <a:noFill/>
        </p:spPr>
        <p:txBody>
          <a:bodyPr wrap="square" lIns="91440" tIns="45720" rIns="91440" bIns="45720" rtlCol="0" anchor="t">
            <a:spAutoFit/>
          </a:bodyPr>
          <a:lstStyle/>
          <a:p>
            <a:r>
              <a:rPr lang="en-US" sz="1100" b="1" dirty="0">
                <a:solidFill>
                  <a:srgbClr val="0A4054"/>
                </a:solidFill>
                <a:latin typeface="Arial"/>
                <a:ea typeface="+mn-lt"/>
                <a:cs typeface="Arial"/>
              </a:rPr>
              <a:t>Company Overview.</a:t>
            </a:r>
            <a:r>
              <a:rPr lang="en-US" sz="1100" dirty="0">
                <a:solidFill>
                  <a:srgbClr val="0A4054"/>
                </a:solidFill>
                <a:latin typeface="Arial"/>
                <a:ea typeface="+mn-lt"/>
                <a:cs typeface="Arial"/>
              </a:rPr>
              <a:t> Nth Cycle is a critical minerals midstream refining company building the technology and infrastructure needed for Western supply chains. The company addresses the market's structural bottleneck: feedstock volumes do not align with the scale and economics of large, traditional refineries. Nth Cycle solves this constraint with a modular system,  dramatically lowering capital intensity, deployment time and emissions to convert industrial scrap, black mass and primary feeds into intermediate and refined products within the nickel, cobalt, copper and rare earth value chains. These advancements enable the domestic production and allied partnerships vital to industrial competitiveness, national security and supply chain resilience.</a:t>
            </a:r>
          </a:p>
          <a:p>
            <a:endParaRPr lang="en-US" sz="1100" dirty="0">
              <a:solidFill>
                <a:srgbClr val="0A4054"/>
              </a:solidFill>
              <a:latin typeface="Arial"/>
              <a:ea typeface="+mn-lt"/>
              <a:cs typeface="Arial"/>
            </a:endParaRPr>
          </a:p>
          <a:p>
            <a:r>
              <a:rPr lang="en-US" sz="1100" b="1" dirty="0">
                <a:solidFill>
                  <a:srgbClr val="0A4054"/>
                </a:solidFill>
                <a:latin typeface="Arial"/>
                <a:ea typeface="+mn-lt"/>
                <a:cs typeface="Arial"/>
              </a:rPr>
              <a:t>Experience and Expertise.</a:t>
            </a:r>
            <a:r>
              <a:rPr lang="en-US" sz="1100" dirty="0">
                <a:solidFill>
                  <a:srgbClr val="0A4054"/>
                </a:solidFill>
                <a:latin typeface="Arial"/>
                <a:ea typeface="+mn-lt"/>
                <a:cs typeface="Arial"/>
              </a:rPr>
              <a:t>  Nth Cycle has been operating its first commercial black mass refining demonstration facility in Fairfield, Ohio since 2024. </a:t>
            </a:r>
            <a:r>
              <a:rPr lang="en-US" sz="1100" b="1" dirty="0">
                <a:solidFill>
                  <a:srgbClr val="0A4054"/>
                </a:solidFill>
                <a:latin typeface="Arial"/>
                <a:ea typeface="+mn-lt"/>
                <a:cs typeface="Arial"/>
              </a:rPr>
              <a:t>Fundraising Summary.</a:t>
            </a:r>
            <a:r>
              <a:rPr lang="en-US" sz="1100" dirty="0">
                <a:solidFill>
                  <a:srgbClr val="0A4054"/>
                </a:solidFill>
                <a:latin typeface="Arial"/>
                <a:ea typeface="+mn-lt"/>
                <a:cs typeface="Arial"/>
              </a:rPr>
              <a:t> Raised &gt;$80M to date. </a:t>
            </a:r>
            <a:r>
              <a:rPr lang="en-US" sz="1100" b="1" dirty="0">
                <a:solidFill>
                  <a:srgbClr val="0A4054"/>
                </a:solidFill>
                <a:latin typeface="Arial"/>
                <a:ea typeface="+mn-lt"/>
                <a:cs typeface="Arial"/>
              </a:rPr>
              <a:t>Commercialization Plan.</a:t>
            </a:r>
            <a:r>
              <a:rPr lang="en-US" sz="1100" dirty="0">
                <a:solidFill>
                  <a:srgbClr val="0A4054"/>
                </a:solidFill>
                <a:latin typeface="Arial"/>
                <a:ea typeface="+mn-lt"/>
                <a:cs typeface="Arial"/>
              </a:rPr>
              <a:t> We have a JDA with Ionic RE and are in negotiations with </a:t>
            </a:r>
            <a:r>
              <a:rPr lang="en-US" sz="1100" dirty="0" err="1">
                <a:solidFill>
                  <a:srgbClr val="0A4054"/>
                </a:solidFill>
                <a:latin typeface="Arial"/>
                <a:ea typeface="+mn-lt"/>
                <a:cs typeface="Arial"/>
              </a:rPr>
              <a:t>Mkango</a:t>
            </a:r>
            <a:r>
              <a:rPr lang="en-US" sz="1100" dirty="0">
                <a:solidFill>
                  <a:srgbClr val="0A4054"/>
                </a:solidFill>
                <a:latin typeface="Arial"/>
                <a:ea typeface="+mn-lt"/>
                <a:cs typeface="Arial"/>
              </a:rPr>
              <a:t>/</a:t>
            </a:r>
            <a:r>
              <a:rPr lang="en-US" sz="1100" dirty="0" err="1">
                <a:solidFill>
                  <a:srgbClr val="0A4054"/>
                </a:solidFill>
                <a:latin typeface="Arial"/>
                <a:ea typeface="+mn-lt"/>
                <a:cs typeface="Arial"/>
              </a:rPr>
              <a:t>Hypermag</a:t>
            </a:r>
            <a:r>
              <a:rPr lang="en-US" sz="1100" dirty="0">
                <a:solidFill>
                  <a:srgbClr val="0A4054"/>
                </a:solidFill>
                <a:latin typeface="Arial"/>
                <a:ea typeface="+mn-lt"/>
                <a:cs typeface="Arial"/>
              </a:rPr>
              <a:t> for another JDA. </a:t>
            </a:r>
            <a:r>
              <a:rPr lang="en-US" sz="1100" b="1" dirty="0">
                <a:solidFill>
                  <a:srgbClr val="0A4054"/>
                </a:solidFill>
                <a:latin typeface="Arial"/>
                <a:ea typeface="+mn-lt"/>
                <a:cs typeface="Arial"/>
              </a:rPr>
              <a:t>Foreign Investment.</a:t>
            </a:r>
            <a:r>
              <a:rPr lang="en-US" sz="1100" dirty="0">
                <a:solidFill>
                  <a:srgbClr val="0A4054"/>
                </a:solidFill>
                <a:latin typeface="Arial"/>
                <a:ea typeface="+mn-lt"/>
                <a:cs typeface="Arial"/>
              </a:rPr>
              <a:t>  Foreign investment is limited to a small number of investors who each own a low single digit % (max is 3.5% by a UK investor family office), a similar amount by Equinor, and lower amounts by other European and other investors. Total foreign ownership &lt;15%. </a:t>
            </a:r>
            <a:r>
              <a:rPr lang="en-US" sz="1100" b="1" dirty="0">
                <a:solidFill>
                  <a:srgbClr val="0A4054"/>
                </a:solidFill>
                <a:latin typeface="Arial"/>
                <a:ea typeface="+mn-lt"/>
                <a:cs typeface="Arial"/>
              </a:rPr>
              <a:t>Non-compliance notices.</a:t>
            </a:r>
            <a:r>
              <a:rPr lang="en-US" sz="1100" dirty="0">
                <a:solidFill>
                  <a:srgbClr val="0A4054"/>
                </a:solidFill>
                <a:latin typeface="Arial"/>
                <a:ea typeface="+mn-lt"/>
                <a:cs typeface="Arial"/>
              </a:rPr>
              <a:t> None.</a:t>
            </a:r>
          </a:p>
          <a:p>
            <a:endParaRPr lang="en-US" sz="1100" dirty="0">
              <a:solidFill>
                <a:srgbClr val="0A4054"/>
              </a:solidFill>
              <a:highlight>
                <a:srgbClr val="FFFF00"/>
              </a:highlight>
              <a:latin typeface="Arial"/>
              <a:ea typeface="+mn-lt"/>
              <a:cs typeface="Arial"/>
            </a:endParaRPr>
          </a:p>
          <a:p>
            <a:endParaRPr lang="en-US" dirty="0">
              <a:latin typeface="Franklin Gothic Medium Cond"/>
              <a:ea typeface="+mn-lt"/>
              <a:cs typeface="Arial"/>
            </a:endParaRPr>
          </a:p>
        </p:txBody>
      </p:sp>
    </p:spTree>
    <p:extLst>
      <p:ext uri="{BB962C8B-B14F-4D97-AF65-F5344CB8AC3E}">
        <p14:creationId xmlns:p14="http://schemas.microsoft.com/office/powerpoint/2010/main" val="710872458"/>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RRPV_PPT_Template_2023">
  <a:themeElements>
    <a:clrScheme name="DIBC Colors">
      <a:dk1>
        <a:srgbClr val="0A4054"/>
      </a:dk1>
      <a:lt1>
        <a:sysClr val="window" lastClr="FFFFFF"/>
      </a:lt1>
      <a:dk2>
        <a:srgbClr val="0A4054"/>
      </a:dk2>
      <a:lt2>
        <a:srgbClr val="E7E6E6"/>
      </a:lt2>
      <a:accent1>
        <a:srgbClr val="32A6D3"/>
      </a:accent1>
      <a:accent2>
        <a:srgbClr val="4895B0"/>
      </a:accent2>
      <a:accent3>
        <a:srgbClr val="A5A5A5"/>
      </a:accent3>
      <a:accent4>
        <a:srgbClr val="FFC000"/>
      </a:accent4>
      <a:accent5>
        <a:srgbClr val="386C7C"/>
      </a:accent5>
      <a:accent6>
        <a:srgbClr val="7F7F7F"/>
      </a:accent6>
      <a:hlink>
        <a:srgbClr val="32A6D3"/>
      </a:hlink>
      <a:folHlink>
        <a:srgbClr val="386C7C"/>
      </a:folHlink>
    </a:clrScheme>
    <a:fontScheme name="Custom 1">
      <a:majorFont>
        <a:latin typeface="Open Sans Semibold"/>
        <a:ea typeface=""/>
        <a:cs typeface=""/>
      </a:majorFont>
      <a:minorFont>
        <a:latin typeface="Franklin Gothic Medium C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BC-PPT-Template" id="{862E6282-44B2-45C9-B968-152ADF1002DE}" vid="{7D613A98-A969-4BE6-BB12-0C74347A855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c99e3fc-2c4d-4475-bf1d-3a4543392362">
      <Terms xmlns="http://schemas.microsoft.com/office/infopath/2007/PartnerControls"/>
    </lcf76f155ced4ddcb4097134ff3c332f>
    <Notes xmlns="1c99e3fc-2c4d-4475-bf1d-3a4543392362">Notes</Notes>
    <TaxCatchAll xmlns="830959bd-b764-45f9-884c-1a2f28ad22d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C9C8A1D07DA854FB009D17402E22846" ma:contentTypeVersion="21" ma:contentTypeDescription="Create a new document." ma:contentTypeScope="" ma:versionID="f85a4f85702bcfa01941fa39744dcffc">
  <xsd:schema xmlns:xsd="http://www.w3.org/2001/XMLSchema" xmlns:xs="http://www.w3.org/2001/XMLSchema" xmlns:p="http://schemas.microsoft.com/office/2006/metadata/properties" xmlns:ns2="1c99e3fc-2c4d-4475-bf1d-3a4543392362" xmlns:ns3="830959bd-b764-45f9-884c-1a2f28ad22d5" targetNamespace="http://schemas.microsoft.com/office/2006/metadata/properties" ma:root="true" ma:fieldsID="546809d46f31a1d495a99e14f27c6523" ns2:_="" ns3:_="">
    <xsd:import namespace="1c99e3fc-2c4d-4475-bf1d-3a4543392362"/>
    <xsd:import namespace="830959bd-b764-45f9-884c-1a2f28ad22d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element ref="ns2:Not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99e3fc-2c4d-4475-bf1d-3a45433923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e2d7a49-350b-41d9-b123-b7c96a49b10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fault="Notes" ma:description="Quick description of study&#10;" ma:format="Dropdown" ma:internalName="Notes">
      <xsd:simpleType>
        <xsd:restriction base="dms:Text">
          <xsd:maxLength value="255"/>
        </xsd:restrictio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0959bd-b764-45f9-884c-1a2f28ad22d5"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833847c7-b15f-4ab1-b33e-6afacc30dff5}" ma:internalName="TaxCatchAll" ma:showField="CatchAllData" ma:web="830959bd-b764-45f9-884c-1a2f28ad22d5">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39E372-A060-4C9C-9FCC-8E22E9814546}">
  <ds:schemaRefs>
    <ds:schemaRef ds:uri="830959bd-b764-45f9-884c-1a2f28ad22d5"/>
    <ds:schemaRef ds:uri="http://schemas.microsoft.com/office/infopath/2007/PartnerControls"/>
    <ds:schemaRef ds:uri="http://purl.org/dc/terms/"/>
    <ds:schemaRef ds:uri="http://purl.org/dc/elements/1.1/"/>
    <ds:schemaRef ds:uri="http://schemas.openxmlformats.org/package/2006/metadata/core-properties"/>
    <ds:schemaRef ds:uri="http://schemas.microsoft.com/office/2006/metadata/properties"/>
    <ds:schemaRef ds:uri="http://www.w3.org/XML/1998/namespace"/>
    <ds:schemaRef ds:uri="http://schemas.microsoft.com/office/2006/documentManagement/types"/>
    <ds:schemaRef ds:uri="1c99e3fc-2c4d-4475-bf1d-3a4543392362"/>
    <ds:schemaRef ds:uri="http://purl.org/dc/dcmitype/"/>
  </ds:schemaRefs>
</ds:datastoreItem>
</file>

<file path=customXml/itemProps2.xml><?xml version="1.0" encoding="utf-8"?>
<ds:datastoreItem xmlns:ds="http://schemas.openxmlformats.org/officeDocument/2006/customXml" ds:itemID="{143426D2-FB87-4635-B627-903A64BF71FB}">
  <ds:schemaRefs>
    <ds:schemaRef ds:uri="http://schemas.microsoft.com/sharepoint/v3/contenttype/forms"/>
  </ds:schemaRefs>
</ds:datastoreItem>
</file>

<file path=customXml/itemProps3.xml><?xml version="1.0" encoding="utf-8"?>
<ds:datastoreItem xmlns:ds="http://schemas.openxmlformats.org/officeDocument/2006/customXml" ds:itemID="{3B97C615-966A-4802-B868-F08E6C19A887}">
  <ds:schemaRefs>
    <ds:schemaRef ds:uri="1c99e3fc-2c4d-4475-bf1d-3a4543392362"/>
    <ds:schemaRef ds:uri="830959bd-b764-45f9-884c-1a2f28ad22d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Metadata/LabelInfo.xml><?xml version="1.0" encoding="utf-8"?>
<clbl:labelList xmlns:clbl="http://schemas.microsoft.com/office/2020/mipLabelMetadata">
  <clbl:label id="{0da06a35-f4a9-417e-b67a-7ae58f71156a}" enabled="1" method="Standard" siteId="{102d0191-eeae-4761-b1cb-1a83e86ef445}" contentBits="0" removed="0"/>
  <clbl:label id="{f623742d-91ba-4558-9fa5-cc908b507967}" enabled="1" method="Privileged" siteId="{102d0191-eeae-4761-b1cb-1a83e86ef445}" removed="0"/>
</clbl:labelList>
</file>

<file path=docProps/app.xml><?xml version="1.0" encoding="utf-8"?>
<Properties xmlns="http://schemas.openxmlformats.org/officeDocument/2006/extended-properties" xmlns:vt="http://schemas.openxmlformats.org/officeDocument/2006/docPropsVTypes">
  <Template/>
  <TotalTime>0</TotalTime>
  <Words>914</Words>
  <Application>Microsoft Macintosh PowerPoint</Application>
  <PresentationFormat>Widescreen</PresentationFormat>
  <Paragraphs>34</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Franklin Gothic Medium Cond</vt:lpstr>
      <vt:lpstr>Open Sans Semibold</vt:lpstr>
      <vt:lpstr>RRPV_PPT_Template_2023</vt:lpstr>
      <vt:lpstr>DIBC Request for Project Proposal (RPP) RPP-CM-26-01 Company Name: Nth Cycle Inc CAGE: 7Y0F0 UEI: KDEPLJUB1549 Project Title: Nth Cycle Enables American Rare Earth Independence      Anticipated Security Level: Unclassified, however Controlled Technical Information and/or Controlled Unclassified Information may be required.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Schupp, Eliot</dc:creator>
  <cp:lastModifiedBy>Megan O'Connor</cp:lastModifiedBy>
  <cp:revision>2</cp:revision>
  <dcterms:created xsi:type="dcterms:W3CDTF">2023-09-21T17:55:36Z</dcterms:created>
  <dcterms:modified xsi:type="dcterms:W3CDTF">2026-03-20T15:58:16Z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0x0101001C9C8A1D07DA854FB009D17402E22846</vt:lpwstr>
  </property>
  <property fmtid="{D5CDD505-2E9C-101B-9397-08002B2CF9AE}" pid="3" name="_dlc_DocIdItemGuid">
    <vt:lpwstr>bc7c0ab4-c30f-4cfa-b710-889947ec1f8c</vt:lpwstr>
  </property>
  <property fmtid="{D5CDD505-2E9C-101B-9397-08002B2CF9AE}" pid="4" name="MSIP_Label_f623742d-91ba-4558-9fa5-cc908b507967_Enabled">
    <vt:lpwstr>True</vt:lpwstr>
  </property>
  <property fmtid="{D5CDD505-2E9C-101B-9397-08002B2CF9AE}" pid="5" name="MSIP_Label_f623742d-91ba-4558-9fa5-cc908b507967_SiteId">
    <vt:lpwstr>102d0191-eeae-4761-b1cb-1a83e86ef445</vt:lpwstr>
  </property>
  <property fmtid="{D5CDD505-2E9C-101B-9397-08002B2CF9AE}" pid="6" name="MSIP_Label_f623742d-91ba-4558-9fa5-cc908b507967_SetDate">
    <vt:lpwstr>2025-03-21T20:44:37Z</vt:lpwstr>
  </property>
  <property fmtid="{D5CDD505-2E9C-101B-9397-08002B2CF9AE}" pid="7" name="MSIP_Label_f623742d-91ba-4558-9fa5-cc908b507967_Name">
    <vt:lpwstr>Controlled - Collaboration</vt:lpwstr>
  </property>
  <property fmtid="{D5CDD505-2E9C-101B-9397-08002B2CF9AE}" pid="8" name="MSIP_Label_f623742d-91ba-4558-9fa5-cc908b507967_ActionId">
    <vt:lpwstr>8958377f-da96-467d-9ca6-7ab052357664</vt:lpwstr>
  </property>
  <property fmtid="{D5CDD505-2E9C-101B-9397-08002B2CF9AE}" pid="9" name="MSIP_Label_f623742d-91ba-4558-9fa5-cc908b507967_Extended_MSFT_Method">
    <vt:lpwstr>Standard</vt:lpwstr>
  </property>
  <property fmtid="{D5CDD505-2E9C-101B-9397-08002B2CF9AE}" pid="10" name="Sensitivity">
    <vt:lpwstr>Controlled - Collaboration \ CUI Controlled - Collaboration</vt:lpwstr>
  </property>
  <property fmtid="{D5CDD505-2E9C-101B-9397-08002B2CF9AE}" pid="11" name="MediaServiceImageTags">
    <vt:lpwstr/>
  </property>
  <property fmtid="{D5CDD505-2E9C-101B-9397-08002B2CF9AE}" pid="12" name="MSIP_Label_0da06a35-f4a9-417e-b67a-7ae58f71156a_Enabled">
    <vt:lpwstr>true</vt:lpwstr>
  </property>
  <property fmtid="{D5CDD505-2E9C-101B-9397-08002B2CF9AE}" pid="13" name="MSIP_Label_0da06a35-f4a9-417e-b67a-7ae58f71156a_SetDate">
    <vt:lpwstr>2025-05-08T13:36:11Z</vt:lpwstr>
  </property>
  <property fmtid="{D5CDD505-2E9C-101B-9397-08002B2CF9AE}" pid="14" name="MSIP_Label_0da06a35-f4a9-417e-b67a-7ae58f71156a_Method">
    <vt:lpwstr>Standard</vt:lpwstr>
  </property>
  <property fmtid="{D5CDD505-2E9C-101B-9397-08002B2CF9AE}" pid="15" name="MSIP_Label_0da06a35-f4a9-417e-b67a-7ae58f71156a_Name">
    <vt:lpwstr>Controlled_Child_01</vt:lpwstr>
  </property>
  <property fmtid="{D5CDD505-2E9C-101B-9397-08002B2CF9AE}" pid="16" name="MSIP_Label_0da06a35-f4a9-417e-b67a-7ae58f71156a_SiteId">
    <vt:lpwstr>102d0191-eeae-4761-b1cb-1a83e86ef445</vt:lpwstr>
  </property>
  <property fmtid="{D5CDD505-2E9C-101B-9397-08002B2CF9AE}" pid="17" name="MSIP_Label_0da06a35-f4a9-417e-b67a-7ae58f71156a_ActionId">
    <vt:lpwstr>b77fce7c-532c-4c48-aa00-4b5c1b9356d1</vt:lpwstr>
  </property>
  <property fmtid="{D5CDD505-2E9C-101B-9397-08002B2CF9AE}" pid="18" name="MSIP_Label_0da06a35-f4a9-417e-b67a-7ae58f71156a_ContentBits">
    <vt:lpwstr>0</vt:lpwstr>
  </property>
  <property fmtid="{D5CDD505-2E9C-101B-9397-08002B2CF9AE}" pid="19" name="MSIP_Label_0da06a35-f4a9-417e-b67a-7ae58f71156a_Tag">
    <vt:lpwstr>10, 3, 0, 2</vt:lpwstr>
  </property>
  <property fmtid="{D5CDD505-2E9C-101B-9397-08002B2CF9AE}" pid="20" name="TaxCatchAll">
    <vt:lpwstr/>
  </property>
</Properties>
</file>