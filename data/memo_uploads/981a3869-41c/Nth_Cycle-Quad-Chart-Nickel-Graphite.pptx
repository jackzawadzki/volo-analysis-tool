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4"/>
  </p:sldMasterIdLst>
  <p:notesMasterIdLst>
    <p:notesMasterId r:id="rId7"/>
  </p:notesMasterIdLst>
  <p:sldIdLst>
    <p:sldId id="265" r:id="rId5"/>
    <p:sldId id="2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795D003-D55C-8201-A559-3F4068D6C6DE}" name="Chad Vecitis" initials="CV" userId="S::vecitis@nthcycle.com::70aecc85-4c6e-4a40-a467-66008730a63b" providerId="AD"/>
  <p188:author id="{7D968337-1405-DEF7-3EBF-0AEF939003C2}" name="Raffi Freeman" initials="" userId="S::freeman@nthcycle.com::4be8a2df-43e9-4b57-893d-21ce72962081" providerId="AD"/>
  <p188:author id="{FE6E1F4E-9B24-6432-6C24-00EF42D02345}" name="Allie Wiegel" initials="AW" userId="S::Wiegel@nthcycle.com::7e47671e-fd96-4dc5-9a35-597905225f8c" providerId="AD"/>
  <p188:author id="{158D275C-5F1C-C840-8BEB-8D5495EF474D}" name="Allie Wiegel" initials="AW" userId="S::wiegel@nthcycle.com::7e47671e-fd96-4dc5-9a35-597905225f8c" providerId="AD"/>
  <p188:author id="{DE6A3664-B2F1-9610-DB02-1D24DBD642CF}" name="Morrow, D Jeffrey CIV WHS AD (USA)" initials="M(" userId="S::dwight.j.morrow2.civ@mail.mil::bf47b033-2c1b-4d7d-82de-fb61771927f9" providerId="AD"/>
  <p188:author id="{AF20BC88-A2BB-146C-2F90-60A06761A94A}" name="Verrine, Jacqueline G CIV WHS AD (USA)" initials="JV" userId="S::jacqueline.g.verrine.civ@mail.mil::7b2a1bdc-1966-4fad-b97d-b4755f6df0b8" providerId="AD"/>
  <p188:author id="{34FB88E0-D110-35A7-B285-BD7F0250EB31}" name="Megan O'Connor" initials="MO" userId="S::oconnor@nthcycle.com::eaab0132-f556-4cab-ae41-2f7b4a8b0a3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d Vecitis" initials="CV" lastIdx="1" clrIdx="0">
    <p:extLst>
      <p:ext uri="{19B8F6BF-5375-455C-9EA6-DF929625EA0E}">
        <p15:presenceInfo xmlns:p15="http://schemas.microsoft.com/office/powerpoint/2012/main" userId="S::vecitis@nthcycle.com::70aecc85-4c6e-4a40-a467-66008730a63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07"/>
    <p:restoredTop sz="94679"/>
  </p:normalViewPr>
  <p:slideViewPr>
    <p:cSldViewPr snapToGrid="0">
      <p:cViewPr>
        <p:scale>
          <a:sx n="111" d="100"/>
          <a:sy n="111" d="100"/>
        </p:scale>
        <p:origin x="48"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6A2AB5-23B6-47E8-A843-C6EE648D9205}" type="datetimeFigureOut">
              <a:rPr lang="en-US" smtClean="0"/>
              <a:t>3/19/26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90231-30D2-48FA-AE71-D399AA99E7E6}" type="slidenum">
              <a:rPr lang="en-US" smtClean="0"/>
              <a:t>‹#›</a:t>
            </a:fld>
            <a:endParaRPr lang="en-US"/>
          </a:p>
        </p:txBody>
      </p:sp>
    </p:spTree>
    <p:extLst>
      <p:ext uri="{BB962C8B-B14F-4D97-AF65-F5344CB8AC3E}">
        <p14:creationId xmlns:p14="http://schemas.microsoft.com/office/powerpoint/2010/main" val="4143957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890231-30D2-48FA-AE71-D399AA99E7E6}" type="slidenum">
              <a:rPr lang="en-US" smtClean="0"/>
              <a:t>2</a:t>
            </a:fld>
            <a:endParaRPr lang="en-US"/>
          </a:p>
        </p:txBody>
      </p:sp>
    </p:spTree>
    <p:extLst>
      <p:ext uri="{BB962C8B-B14F-4D97-AF65-F5344CB8AC3E}">
        <p14:creationId xmlns:p14="http://schemas.microsoft.com/office/powerpoint/2010/main" val="37085071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B085-3144-421B-89E4-C11835C2967F}"/>
              </a:ext>
            </a:extLst>
          </p:cNvPr>
          <p:cNvSpPr>
            <a:spLocks noGrp="1"/>
          </p:cNvSpPr>
          <p:nvPr>
            <p:ph type="ctrTitle"/>
          </p:nvPr>
        </p:nvSpPr>
        <p:spPr>
          <a:xfrm>
            <a:off x="1524000" y="2767296"/>
            <a:ext cx="9144000" cy="2387600"/>
          </a:xfrm>
        </p:spPr>
        <p:txBody>
          <a:bodyPr anchor="ct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958614-F8BB-4A1A-AC36-93A85DF6EECF}"/>
              </a:ext>
            </a:extLst>
          </p:cNvPr>
          <p:cNvSpPr>
            <a:spLocks noGrp="1"/>
          </p:cNvSpPr>
          <p:nvPr>
            <p:ph type="subTitle" idx="1"/>
          </p:nvPr>
        </p:nvSpPr>
        <p:spPr>
          <a:xfrm>
            <a:off x="1524000" y="5246971"/>
            <a:ext cx="9144000" cy="88050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a:extLst>
              <a:ext uri="{FF2B5EF4-FFF2-40B4-BE49-F238E27FC236}">
                <a16:creationId xmlns:a16="http://schemas.microsoft.com/office/drawing/2014/main" id="{CD147F55-F2CA-1E32-7EC8-B647342F6A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19411" y="304452"/>
            <a:ext cx="2553179" cy="2172722"/>
          </a:xfrm>
          <a:prstGeom prst="rect">
            <a:avLst/>
          </a:prstGeom>
        </p:spPr>
      </p:pic>
    </p:spTree>
    <p:extLst>
      <p:ext uri="{BB962C8B-B14F-4D97-AF65-F5344CB8AC3E}">
        <p14:creationId xmlns:p14="http://schemas.microsoft.com/office/powerpoint/2010/main" val="3935269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FF7CA-27B6-488A-B22F-7E393FC2BB80}"/>
              </a:ext>
            </a:extLst>
          </p:cNvPr>
          <p:cNvSpPr>
            <a:spLocks noGrp="1"/>
          </p:cNvSpPr>
          <p:nvPr>
            <p:ph type="title"/>
          </p:nvPr>
        </p:nvSpPr>
        <p:spPr>
          <a:xfrm>
            <a:off x="1238250" y="365125"/>
            <a:ext cx="101155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A4C2A8D-A95D-42E7-A9B2-D5450A5D90AB}"/>
              </a:ext>
            </a:extLst>
          </p:cNvPr>
          <p:cNvSpPr>
            <a:spLocks noGrp="1"/>
          </p:cNvSpPr>
          <p:nvPr>
            <p:ph idx="1"/>
          </p:nvPr>
        </p:nvSpPr>
        <p:spPr>
          <a:xfrm>
            <a:off x="1238250" y="1825625"/>
            <a:ext cx="101155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1612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D2C4A-78F0-4168-A40E-F25CFB195D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DD698A-61F2-4CC1-83BD-7258539AAF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42A4F3-6CAD-4D19-89A1-000FBE39DA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42039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alphaModFix amt="42000"/>
            <a:lum/>
          </a:blip>
          <a:srcRect/>
          <a:stretch>
            <a:fillRect b="-2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4C42E1-DAAC-4AD3-ADB3-CEC370E9B1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21428C-377F-432E-9352-598284510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815A84A3-47C7-4F8F-B14D-F8CABE4F073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1228439" y="173806"/>
            <a:ext cx="802898" cy="683256"/>
          </a:xfrm>
          <a:prstGeom prst="rect">
            <a:avLst/>
          </a:prstGeom>
        </p:spPr>
      </p:pic>
    </p:spTree>
    <p:extLst>
      <p:ext uri="{BB962C8B-B14F-4D97-AF65-F5344CB8AC3E}">
        <p14:creationId xmlns:p14="http://schemas.microsoft.com/office/powerpoint/2010/main" val="2553418570"/>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1368A61-D3D7-9451-7992-9FE0AC4B56D5}"/>
              </a:ext>
            </a:extLst>
          </p:cNvPr>
          <p:cNvSpPr>
            <a:spLocks noGrp="1"/>
          </p:cNvSpPr>
          <p:nvPr>
            <p:ph type="title"/>
          </p:nvPr>
        </p:nvSpPr>
        <p:spPr>
          <a:xfrm>
            <a:off x="649480" y="1034040"/>
            <a:ext cx="11194991" cy="5189477"/>
          </a:xfrm>
        </p:spPr>
        <p:txBody>
          <a:bodyPr>
            <a:normAutofit/>
          </a:bodyPr>
          <a:lstStyle/>
          <a:p>
            <a:pPr algn="ctr">
              <a:lnSpc>
                <a:spcPct val="100000"/>
              </a:lnSpc>
              <a:spcAft>
                <a:spcPct val="0"/>
              </a:spcAft>
              <a:defRPr/>
            </a:pPr>
            <a:r>
              <a:rPr lang="en-US" sz="2400">
                <a:solidFill>
                  <a:srgbClr val="0A4054"/>
                </a:solidFill>
                <a:latin typeface="Arial"/>
                <a:ea typeface="+mn-ea"/>
                <a:cs typeface="Arial"/>
              </a:rPr>
              <a:t>DIBC Request for Project Proposal (RPP)</a:t>
            </a:r>
            <a:br>
              <a:rPr lang="en-US" sz="2400">
                <a:latin typeface="Arial"/>
                <a:ea typeface="+mn-ea"/>
                <a:cs typeface="Arial"/>
              </a:rPr>
            </a:br>
            <a:r>
              <a:rPr lang="en-US" sz="2400">
                <a:solidFill>
                  <a:srgbClr val="0A4054"/>
                </a:solidFill>
                <a:latin typeface="Arial"/>
                <a:ea typeface="+mn-ea"/>
                <a:cs typeface="Arial"/>
              </a:rPr>
              <a:t>RPP-CM-26-01</a:t>
            </a:r>
            <a:br>
              <a:rPr lang="en-US" sz="2400">
                <a:latin typeface="Arial"/>
                <a:ea typeface="+mn-ea"/>
                <a:cs typeface="Arial"/>
              </a:rPr>
            </a:br>
            <a:r>
              <a:rPr lang="en-US" sz="2400">
                <a:solidFill>
                  <a:srgbClr val="FF0000"/>
                </a:solidFill>
                <a:latin typeface="Calibri"/>
                <a:ea typeface="Calibri"/>
                <a:cs typeface="Calibri"/>
              </a:rPr>
              <a:t>Company Name: Nth Cycle Inc</a:t>
            </a:r>
            <a:br>
              <a:rPr lang="en-US" sz="2400">
                <a:latin typeface="Calibri"/>
                <a:ea typeface="Calibri"/>
                <a:cs typeface="Calibri"/>
              </a:rPr>
            </a:br>
            <a:r>
              <a:rPr lang="en-US" sz="2400">
                <a:solidFill>
                  <a:srgbClr val="FF0000"/>
                </a:solidFill>
                <a:latin typeface="Calibri"/>
                <a:ea typeface="Calibri"/>
                <a:cs typeface="Calibri"/>
              </a:rPr>
              <a:t>CAGE: 7Y0F0</a:t>
            </a:r>
            <a:br>
              <a:rPr lang="en-US" sz="2400">
                <a:latin typeface="Calibri"/>
                <a:ea typeface="Calibri"/>
                <a:cs typeface="Calibri"/>
              </a:rPr>
            </a:br>
            <a:r>
              <a:rPr lang="en-US" sz="2400">
                <a:solidFill>
                  <a:srgbClr val="FF0000"/>
                </a:solidFill>
                <a:latin typeface="Calibri"/>
                <a:ea typeface="Calibri"/>
                <a:cs typeface="Calibri"/>
              </a:rPr>
              <a:t>UEI: KDEPLJUB1549</a:t>
            </a:r>
            <a:br>
              <a:rPr lang="en-US" sz="2400">
                <a:latin typeface="Calibri"/>
                <a:ea typeface="Calibri"/>
                <a:cs typeface="Calibri"/>
              </a:rPr>
            </a:br>
            <a:r>
              <a:rPr lang="en-US" sz="2400">
                <a:solidFill>
                  <a:srgbClr val="FF0000"/>
                </a:solidFill>
                <a:latin typeface="Calibri"/>
                <a:ea typeface="Calibri"/>
                <a:cs typeface="Calibri"/>
              </a:rPr>
              <a:t>Project Title: Project SHIELD</a:t>
            </a:r>
            <a:br>
              <a:rPr lang="en-US" sz="2400">
                <a:solidFill>
                  <a:srgbClr val="FF0000"/>
                </a:solidFill>
                <a:latin typeface="Arial"/>
                <a:ea typeface="+mn-ea"/>
                <a:cs typeface="Arial"/>
              </a:rPr>
            </a:br>
            <a:br>
              <a:rPr lang="en-US" sz="2400">
                <a:solidFill>
                  <a:srgbClr val="FF0000"/>
                </a:solidFill>
                <a:latin typeface="Arial"/>
                <a:ea typeface="+mn-ea"/>
                <a:cs typeface="Arial"/>
              </a:rPr>
            </a:br>
            <a:br>
              <a:rPr lang="en-US" sz="2400">
                <a:solidFill>
                  <a:srgbClr val="FF0000"/>
                </a:solidFill>
                <a:latin typeface="Arial"/>
                <a:ea typeface="+mn-ea"/>
                <a:cs typeface="Arial"/>
              </a:rPr>
            </a:br>
            <a:br>
              <a:rPr lang="en-US" sz="2400">
                <a:solidFill>
                  <a:srgbClr val="FF0000"/>
                </a:solidFill>
                <a:latin typeface="Arial"/>
                <a:ea typeface="+mn-ea"/>
                <a:cs typeface="Arial"/>
              </a:rPr>
            </a:br>
            <a:br>
              <a:rPr lang="en-US" sz="2400">
                <a:solidFill>
                  <a:srgbClr val="FF0000"/>
                </a:solidFill>
                <a:latin typeface="Arial"/>
                <a:ea typeface="+mn-ea"/>
                <a:cs typeface="Arial"/>
              </a:rPr>
            </a:br>
            <a:br>
              <a:rPr lang="en-US" sz="2400">
                <a:solidFill>
                  <a:srgbClr val="FF0000"/>
                </a:solidFill>
                <a:latin typeface="Arial"/>
                <a:ea typeface="+mn-ea"/>
                <a:cs typeface="Arial"/>
              </a:rPr>
            </a:br>
            <a:r>
              <a:rPr lang="en-US" sz="1400">
                <a:solidFill>
                  <a:srgbClr val="0A4054"/>
                </a:solidFill>
                <a:latin typeface="Arial"/>
                <a:ea typeface="+mn-ea"/>
                <a:cs typeface="Arial"/>
              </a:rPr>
              <a:t>Anticipated Security Level: Unclassified, however Controlled Technical Information and/or Controlled Unclassified Information may be required.</a:t>
            </a:r>
            <a:br>
              <a:rPr lang="en-US" sz="2400">
                <a:latin typeface="Arial"/>
                <a:cs typeface="Arial"/>
              </a:rPr>
            </a:br>
            <a:endParaRPr lang="en-US" sz="2400">
              <a:latin typeface="Arial"/>
              <a:ea typeface="+mn-ea"/>
              <a:cs typeface="Arial"/>
            </a:endParaRPr>
          </a:p>
        </p:txBody>
      </p:sp>
    </p:spTree>
    <p:extLst>
      <p:ext uri="{BB962C8B-B14F-4D97-AF65-F5344CB8AC3E}">
        <p14:creationId xmlns:p14="http://schemas.microsoft.com/office/powerpoint/2010/main" val="559829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0C37545-167F-535B-851C-3161E7B60E31}"/>
              </a:ext>
            </a:extLst>
          </p:cNvPr>
          <p:cNvCxnSpPr>
            <a:cxnSpLocks/>
          </p:cNvCxnSpPr>
          <p:nvPr/>
        </p:nvCxnSpPr>
        <p:spPr>
          <a:xfrm>
            <a:off x="5899848" y="0"/>
            <a:ext cx="0" cy="68580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CE0DBE3-68D8-EBC2-7CBA-EABE30D57525}"/>
              </a:ext>
            </a:extLst>
          </p:cNvPr>
          <p:cNvCxnSpPr>
            <a:cxnSpLocks/>
          </p:cNvCxnSpPr>
          <p:nvPr/>
        </p:nvCxnSpPr>
        <p:spPr>
          <a:xfrm flipH="1">
            <a:off x="0" y="3429000"/>
            <a:ext cx="121920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F612CFC-40A3-7D3D-9E43-635ADA4EA5F1}"/>
              </a:ext>
            </a:extLst>
          </p:cNvPr>
          <p:cNvSpPr txBox="1"/>
          <p:nvPr/>
        </p:nvSpPr>
        <p:spPr>
          <a:xfrm>
            <a:off x="676474" y="-1556"/>
            <a:ext cx="4753086" cy="276999"/>
          </a:xfrm>
          <a:prstGeom prst="rect">
            <a:avLst/>
          </a:prstGeom>
          <a:solidFill>
            <a:schemeClr val="tx1">
              <a:lumMod val="75000"/>
              <a:lumOff val="25000"/>
            </a:schemeClr>
          </a:solidFill>
          <a:ln>
            <a:solidFill>
              <a:schemeClr val="tx1">
                <a:lumMod val="75000"/>
                <a:lumOff val="25000"/>
              </a:schemeClr>
            </a:solidFill>
          </a:ln>
        </p:spPr>
        <p:txBody>
          <a:bodyPr wrap="square" lIns="91440" tIns="45720" rIns="91440" bIns="45720" rtlCol="0" anchor="t">
            <a:spAutoFit/>
          </a:bodyPr>
          <a:lstStyle/>
          <a:p>
            <a:pPr algn="ctr"/>
            <a:r>
              <a:rPr lang="en-US" sz="1200" b="1">
                <a:solidFill>
                  <a:srgbClr val="FFFFFF"/>
                </a:solidFill>
                <a:latin typeface="Arial"/>
                <a:cs typeface="Arial"/>
              </a:rPr>
              <a:t>Proposed Solution</a:t>
            </a:r>
          </a:p>
        </p:txBody>
      </p:sp>
      <p:sp>
        <p:nvSpPr>
          <p:cNvPr id="9" name="TextBox 8">
            <a:extLst>
              <a:ext uri="{FF2B5EF4-FFF2-40B4-BE49-F238E27FC236}">
                <a16:creationId xmlns:a16="http://schemas.microsoft.com/office/drawing/2014/main" id="{00344895-663B-2DD0-0E3F-78C771259734}"/>
              </a:ext>
            </a:extLst>
          </p:cNvPr>
          <p:cNvSpPr txBox="1"/>
          <p:nvPr/>
        </p:nvSpPr>
        <p:spPr>
          <a:xfrm>
            <a:off x="6588656" y="-1797"/>
            <a:ext cx="4757742" cy="276999"/>
          </a:xfrm>
          <a:prstGeom prst="rect">
            <a:avLst/>
          </a:prstGeom>
          <a:solidFill>
            <a:schemeClr val="tx1">
              <a:lumMod val="75000"/>
              <a:lumOff val="25000"/>
            </a:schemeClr>
          </a:solidFill>
          <a:ln>
            <a:solidFill>
              <a:schemeClr val="tx1">
                <a:lumMod val="75000"/>
                <a:lumOff val="25000"/>
              </a:schemeClr>
            </a:solid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Arial"/>
              </a:rPr>
              <a:t>Company Viability and Expertise</a:t>
            </a:r>
          </a:p>
        </p:txBody>
      </p:sp>
      <p:sp>
        <p:nvSpPr>
          <p:cNvPr id="11" name="TextBox 10">
            <a:extLst>
              <a:ext uri="{FF2B5EF4-FFF2-40B4-BE49-F238E27FC236}">
                <a16:creationId xmlns:a16="http://schemas.microsoft.com/office/drawing/2014/main" id="{28F353D7-7FC7-89B3-6BB4-12EB17ACAE23}"/>
              </a:ext>
            </a:extLst>
          </p:cNvPr>
          <p:cNvSpPr txBox="1"/>
          <p:nvPr/>
        </p:nvSpPr>
        <p:spPr>
          <a:xfrm>
            <a:off x="667118" y="3429209"/>
            <a:ext cx="4757550" cy="276999"/>
          </a:xfrm>
          <a:prstGeom prst="rect">
            <a:avLst/>
          </a:prstGeom>
          <a:solidFill>
            <a:schemeClr val="tx1">
              <a:lumMod val="75000"/>
              <a:lumOff val="25000"/>
            </a:schemeClr>
          </a:solidFill>
          <a:ln>
            <a:solidFill>
              <a:schemeClr val="tx1">
                <a:lumMod val="75000"/>
                <a:lumOff val="25000"/>
              </a:schemeClr>
            </a:solidFill>
          </a:ln>
        </p:spPr>
        <p:txBody>
          <a:bodyPr wrap="square" lIns="91440" tIns="45720" rIns="91440" bIns="45720" rtlCol="0" anchor="t">
            <a:spAutoFit/>
          </a:bodyPr>
          <a:lstStyle/>
          <a:p>
            <a:pPr algn="ctr"/>
            <a:r>
              <a:rPr lang="en-US" sz="1200" b="1">
                <a:solidFill>
                  <a:srgbClr val="FFFFFF"/>
                </a:solidFill>
                <a:latin typeface="Arial"/>
                <a:cs typeface="Arial"/>
              </a:rPr>
              <a:t>Schedule of Major Milestones</a:t>
            </a:r>
            <a:endParaRPr lang="en-US"/>
          </a:p>
        </p:txBody>
      </p:sp>
      <p:sp>
        <p:nvSpPr>
          <p:cNvPr id="12" name="TextBox 11">
            <a:extLst>
              <a:ext uri="{FF2B5EF4-FFF2-40B4-BE49-F238E27FC236}">
                <a16:creationId xmlns:a16="http://schemas.microsoft.com/office/drawing/2014/main" id="{96403D18-6CF2-3A82-304F-9A41FACEE8C0}"/>
              </a:ext>
            </a:extLst>
          </p:cNvPr>
          <p:cNvSpPr txBox="1"/>
          <p:nvPr/>
        </p:nvSpPr>
        <p:spPr>
          <a:xfrm>
            <a:off x="322645" y="343721"/>
            <a:ext cx="5551800" cy="301621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000" b="1" dirty="0">
                <a:solidFill>
                  <a:srgbClr val="0A4054"/>
                </a:solidFill>
                <a:latin typeface="Arial"/>
                <a:cs typeface="Arial"/>
              </a:rPr>
              <a:t>Proposed Project (AOI 2) . </a:t>
            </a:r>
            <a:r>
              <a:rPr lang="en-US" sz="1000" dirty="0">
                <a:solidFill>
                  <a:srgbClr val="0A4054"/>
                </a:solidFill>
                <a:latin typeface="Arial"/>
                <a:cs typeface="Arial"/>
              </a:rPr>
              <a:t>Nth Cycle’s U.S. anchor black mass refining facility will intake 12,000 </a:t>
            </a:r>
            <a:r>
              <a:rPr lang="en-US" sz="1000" dirty="0" err="1">
                <a:solidFill>
                  <a:srgbClr val="0A4054"/>
                </a:solidFill>
                <a:latin typeface="Arial"/>
                <a:cs typeface="Arial"/>
              </a:rPr>
              <a:t>tonnes</a:t>
            </a:r>
            <a:r>
              <a:rPr lang="en-US" sz="1000" dirty="0">
                <a:solidFill>
                  <a:srgbClr val="0A4054"/>
                </a:solidFill>
                <a:latin typeface="Arial"/>
                <a:cs typeface="Arial"/>
              </a:rPr>
              <a:t> per year (</a:t>
            </a:r>
            <a:r>
              <a:rPr lang="en-US" sz="1000" dirty="0" err="1">
                <a:solidFill>
                  <a:srgbClr val="0A4054"/>
                </a:solidFill>
                <a:latin typeface="Arial"/>
                <a:cs typeface="Arial"/>
              </a:rPr>
              <a:t>tpy</a:t>
            </a:r>
            <a:r>
              <a:rPr lang="en-US" sz="1000" dirty="0">
                <a:solidFill>
                  <a:srgbClr val="0A4054"/>
                </a:solidFill>
                <a:latin typeface="Arial"/>
                <a:cs typeface="Arial"/>
              </a:rPr>
              <a:t>) of Li-ion battery black mass and produce 2,000 </a:t>
            </a:r>
            <a:r>
              <a:rPr lang="en-US" sz="1000" dirty="0" err="1">
                <a:solidFill>
                  <a:srgbClr val="0A4054"/>
                </a:solidFill>
                <a:latin typeface="Arial"/>
                <a:cs typeface="Arial"/>
              </a:rPr>
              <a:t>tpy</a:t>
            </a:r>
            <a:r>
              <a:rPr lang="en-US" sz="1000" dirty="0">
                <a:solidFill>
                  <a:srgbClr val="0A4054"/>
                </a:solidFill>
                <a:latin typeface="Arial"/>
                <a:cs typeface="Arial"/>
              </a:rPr>
              <a:t> nickel contained high-purity metal hydroxide, 4,000 </a:t>
            </a:r>
            <a:r>
              <a:rPr lang="en-US" sz="1000" dirty="0" err="1">
                <a:solidFill>
                  <a:srgbClr val="0A4054"/>
                </a:solidFill>
                <a:latin typeface="Arial"/>
                <a:cs typeface="Arial"/>
              </a:rPr>
              <a:t>tpa</a:t>
            </a:r>
            <a:r>
              <a:rPr lang="en-US" sz="1000" dirty="0">
                <a:solidFill>
                  <a:srgbClr val="0A4054"/>
                </a:solidFill>
                <a:latin typeface="Arial"/>
                <a:cs typeface="Arial"/>
              </a:rPr>
              <a:t> graphite, and 1,500 </a:t>
            </a:r>
            <a:r>
              <a:rPr lang="en-US" sz="1000" dirty="0" err="1">
                <a:solidFill>
                  <a:srgbClr val="0A4054"/>
                </a:solidFill>
                <a:latin typeface="Arial"/>
                <a:cs typeface="Arial"/>
              </a:rPr>
              <a:t>tpy</a:t>
            </a:r>
            <a:r>
              <a:rPr lang="en-US" sz="1000" dirty="0">
                <a:solidFill>
                  <a:srgbClr val="0A4054"/>
                </a:solidFill>
                <a:latin typeface="Arial"/>
                <a:cs typeface="Arial"/>
              </a:rPr>
              <a:t> battery grade lithium carbonate. </a:t>
            </a:r>
            <a:endParaRPr lang="en-US" sz="1000" dirty="0">
              <a:latin typeface="Franklin Gothic Medium Cond"/>
              <a:cs typeface="Arial"/>
            </a:endParaRPr>
          </a:p>
          <a:p>
            <a:pPr marL="285750" indent="-285750">
              <a:buFont typeface="Arial" panose="020B0604020202020204" pitchFamily="34" charset="0"/>
              <a:buChar char="•"/>
            </a:pPr>
            <a:endParaRPr lang="en-US" sz="1000" dirty="0">
              <a:latin typeface="Arial"/>
              <a:cs typeface="Arial"/>
            </a:endParaRPr>
          </a:p>
          <a:p>
            <a:pPr marL="285750" indent="-285750">
              <a:buFont typeface="Arial" panose="020B0604020202020204" pitchFamily="34" charset="0"/>
              <a:buChar char="•"/>
            </a:pPr>
            <a:r>
              <a:rPr lang="en-US" sz="1000" b="1" dirty="0">
                <a:latin typeface="Arial"/>
                <a:cs typeface="Arial"/>
              </a:rPr>
              <a:t>Unique Solution.</a:t>
            </a:r>
            <a:r>
              <a:rPr lang="en-US" sz="1000" dirty="0">
                <a:latin typeface="Arial"/>
                <a:cs typeface="Arial"/>
              </a:rPr>
              <a:t> Nth Cycle's proprietary electroextraction technology replaces single-use chemical consumables with electricity and process salt water, which significantly reduces operating costs classically associated with chemical consumption, water consumption, and liquid/solid waste production.   </a:t>
            </a:r>
            <a:endParaRPr lang="en-US" sz="1000" dirty="0"/>
          </a:p>
          <a:p>
            <a:pPr marL="742950" lvl="1" indent="-285750">
              <a:buFont typeface="Arial" panose="020B0604020202020204" pitchFamily="34" charset="0"/>
              <a:buChar char="•"/>
            </a:pPr>
            <a:r>
              <a:rPr lang="en-US" sz="1000" b="1" dirty="0">
                <a:latin typeface="Arial"/>
                <a:cs typeface="Arial"/>
              </a:rPr>
              <a:t>Key Innovations.</a:t>
            </a:r>
            <a:r>
              <a:rPr lang="en-US" sz="1000" dirty="0">
                <a:latin typeface="Arial"/>
                <a:cs typeface="Arial"/>
              </a:rPr>
              <a:t> Reduces capital intensity by 70% at 5-10x smaller scale, solving the major pain point of traditional metal refining technology being too massive and expensive to build in the West</a:t>
            </a:r>
          </a:p>
          <a:p>
            <a:pPr marL="742950" lvl="1" indent="-285750">
              <a:buFont typeface="Arial" panose="020B0604020202020204" pitchFamily="34" charset="0"/>
              <a:buChar char="•"/>
            </a:pPr>
            <a:r>
              <a:rPr lang="en-US" sz="1000" b="1" dirty="0">
                <a:latin typeface="Arial"/>
                <a:cs typeface="Arial"/>
              </a:rPr>
              <a:t>Readiness Level.</a:t>
            </a:r>
            <a:r>
              <a:rPr lang="en-US" sz="1000" dirty="0">
                <a:latin typeface="Arial"/>
                <a:cs typeface="Arial"/>
              </a:rPr>
              <a:t> Starting TRL of 7/MRL 8, finishing at TRL 8/MRL 9</a:t>
            </a:r>
            <a:endParaRPr lang="en-US"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b="1" dirty="0">
                <a:latin typeface="Arial" panose="020B0604020202020204" pitchFamily="34" charset="0"/>
                <a:cs typeface="Arial" panose="020B0604020202020204" pitchFamily="34" charset="0"/>
              </a:rPr>
              <a:t>Nickel</a:t>
            </a:r>
            <a:r>
              <a:rPr lang="en-US" sz="1000" dirty="0">
                <a:latin typeface="Arial" panose="020B0604020202020204" pitchFamily="34" charset="0"/>
                <a:cs typeface="Arial" panose="020B0604020202020204" pitchFamily="34" charset="0"/>
              </a:rPr>
              <a:t> is critical to DOW because it supports advanced batteries and high-performance alloys needed for force readiness, defense manufacturing, and resilient installation energy systems, while reducing dependence on vulnerable foreign supply chains.</a:t>
            </a:r>
          </a:p>
          <a:p>
            <a:pPr marL="171450" indent="-171450">
              <a:buFont typeface="Arial" panose="020B0604020202020204" pitchFamily="34" charset="0"/>
              <a:buChar char="•"/>
            </a:pPr>
            <a:r>
              <a:rPr lang="en-US" sz="1000" b="1" dirty="0">
                <a:latin typeface="Arial" panose="020B0604020202020204" pitchFamily="34" charset="0"/>
                <a:cs typeface="Arial" panose="020B0604020202020204" pitchFamily="34" charset="0"/>
              </a:rPr>
              <a:t>Graphite</a:t>
            </a:r>
            <a:r>
              <a:rPr lang="en-US" sz="1000" dirty="0">
                <a:latin typeface="Arial" panose="020B0604020202020204" pitchFamily="34" charset="0"/>
                <a:cs typeface="Arial" panose="020B0604020202020204" pitchFamily="34" charset="0"/>
              </a:rPr>
              <a:t> is critical to DOW because it is a foundational battery material, and the Department has used Defense Production Act authorities to expand domestic graphite production and processing in order to improve long-term supply chain resilience.</a:t>
            </a:r>
          </a:p>
        </p:txBody>
      </p:sp>
      <p:sp>
        <p:nvSpPr>
          <p:cNvPr id="13" name="TextBox 12">
            <a:extLst>
              <a:ext uri="{FF2B5EF4-FFF2-40B4-BE49-F238E27FC236}">
                <a16:creationId xmlns:a16="http://schemas.microsoft.com/office/drawing/2014/main" id="{615CA8BA-8413-5F8C-3CBC-984EBCBABCF6}"/>
              </a:ext>
            </a:extLst>
          </p:cNvPr>
          <p:cNvSpPr txBox="1"/>
          <p:nvPr/>
        </p:nvSpPr>
        <p:spPr>
          <a:xfrm>
            <a:off x="356615" y="3741669"/>
            <a:ext cx="5538507" cy="3000821"/>
          </a:xfrm>
          <a:prstGeom prst="rect">
            <a:avLst/>
          </a:prstGeom>
          <a:noFill/>
          <a:ln>
            <a:solidFill>
              <a:srgbClr val="FF0000"/>
            </a:solidFill>
          </a:ln>
        </p:spPr>
        <p:txBody>
          <a:bodyPr wrap="square" lIns="91440" tIns="45720" rIns="91440" bIns="45720" rtlCol="0" anchor="t">
            <a:spAutoFit/>
          </a:bodyPr>
          <a:lstStyle>
            <a:defPPr>
              <a:defRPr lang="en-US"/>
            </a:defPPr>
            <a:lvl1pPr marL="285750" indent="-285750">
              <a:buFont typeface="Arial" panose="020B0604020202020204" pitchFamily="34" charset="0"/>
              <a:buChar char="•"/>
              <a:defRPr sz="1100">
                <a:solidFill>
                  <a:srgbClr val="0A4054"/>
                </a:solidFill>
                <a:latin typeface="Arial"/>
                <a:cs typeface="Arial"/>
              </a:defRPr>
            </a:lvl1pPr>
            <a:lvl2pPr marL="742950" lvl="1" indent="-285750">
              <a:buFont typeface="Arial" panose="020B0604020202020204" pitchFamily="34" charset="0"/>
              <a:buChar char="•"/>
              <a:defRPr sz="1100">
                <a:latin typeface="Arial"/>
                <a:cs typeface="Arial"/>
              </a:defRPr>
            </a:lvl2pPr>
          </a:lstStyle>
          <a:p>
            <a:r>
              <a:rPr lang="en-US" sz="1050" b="1"/>
              <a:t>Project Schedule:</a:t>
            </a:r>
          </a:p>
          <a:p>
            <a:pPr lvl="1"/>
            <a:r>
              <a:rPr lang="en-US" sz="1050"/>
              <a:t>The period of performance will be 36 months (Q2 2026 – Q2 2029)</a:t>
            </a:r>
          </a:p>
          <a:p>
            <a:r>
              <a:rPr lang="en-US" sz="1050" b="1"/>
              <a:t>Project Timeline:</a:t>
            </a:r>
          </a:p>
          <a:p>
            <a:pPr lvl="1"/>
            <a:r>
              <a:rPr lang="en-US" sz="1050"/>
              <a:t>Feasibility</a:t>
            </a:r>
            <a:r>
              <a:rPr lang="en-US" sz="1050">
                <a:latin typeface="Arial"/>
                <a:cs typeface="Arial"/>
              </a:rPr>
              <a:t>, FEL2, and site selection underway with Fluor</a:t>
            </a:r>
            <a:r>
              <a:rPr lang="en-US" sz="1050"/>
              <a:t>;</a:t>
            </a:r>
            <a:endParaRPr lang="en-US" sz="1050">
              <a:latin typeface="Franklin Gothic Medium Cond"/>
            </a:endParaRPr>
          </a:p>
          <a:p>
            <a:pPr lvl="1"/>
            <a:r>
              <a:rPr lang="en-US" sz="1050">
                <a:latin typeface="Arial"/>
                <a:cs typeface="Arial"/>
              </a:rPr>
              <a:t>Phase 1. Engineering, Permitting, &amp; </a:t>
            </a:r>
            <a:r>
              <a:rPr lang="en-US" sz="1050"/>
              <a:t>Planning (Q3 2026-Q3 2027);</a:t>
            </a:r>
            <a:endParaRPr lang="en-US" sz="1050">
              <a:latin typeface="Franklin Gothic Medium Cond"/>
            </a:endParaRPr>
          </a:p>
          <a:p>
            <a:pPr lvl="1"/>
            <a:r>
              <a:rPr lang="en-US" sz="1050"/>
              <a:t>Phase 2.</a:t>
            </a:r>
            <a:r>
              <a:rPr lang="en-US" sz="1050">
                <a:latin typeface="Arial"/>
                <a:cs typeface="Arial"/>
              </a:rPr>
              <a:t> </a:t>
            </a:r>
            <a:r>
              <a:rPr lang="en-US" sz="1050"/>
              <a:t>Construction </a:t>
            </a:r>
            <a:r>
              <a:rPr lang="en-US" sz="1050">
                <a:latin typeface="Arial"/>
                <a:cs typeface="Arial"/>
              </a:rPr>
              <a:t>(</a:t>
            </a:r>
            <a:r>
              <a:rPr lang="en-US" sz="1050"/>
              <a:t>Q3</a:t>
            </a:r>
            <a:r>
              <a:rPr lang="en-US" sz="1050">
                <a:latin typeface="Arial"/>
                <a:cs typeface="Arial"/>
              </a:rPr>
              <a:t> </a:t>
            </a:r>
            <a:r>
              <a:rPr lang="en-US" sz="1050"/>
              <a:t>2027-Q4</a:t>
            </a:r>
            <a:r>
              <a:rPr lang="en-US" sz="1050">
                <a:latin typeface="Arial"/>
                <a:cs typeface="Arial"/>
              </a:rPr>
              <a:t> </a:t>
            </a:r>
            <a:r>
              <a:rPr lang="en-US" sz="1050"/>
              <a:t>2028);</a:t>
            </a:r>
          </a:p>
          <a:p>
            <a:pPr lvl="1"/>
            <a:r>
              <a:rPr lang="en-US" sz="1050"/>
              <a:t>Phase 3. Commissioning </a:t>
            </a:r>
            <a:r>
              <a:rPr lang="en-US" sz="1050">
                <a:latin typeface="Arial"/>
                <a:cs typeface="Arial"/>
              </a:rPr>
              <a:t>(</a:t>
            </a:r>
            <a:r>
              <a:rPr lang="en-US" sz="1050"/>
              <a:t>Q1</a:t>
            </a:r>
            <a:r>
              <a:rPr lang="en-US" sz="1050">
                <a:latin typeface="Arial"/>
                <a:cs typeface="Arial"/>
              </a:rPr>
              <a:t> </a:t>
            </a:r>
            <a:r>
              <a:rPr lang="en-US" sz="1050"/>
              <a:t>2029-Q2</a:t>
            </a:r>
            <a:r>
              <a:rPr lang="en-US" sz="1050">
                <a:latin typeface="Arial"/>
                <a:cs typeface="Arial"/>
              </a:rPr>
              <a:t> </a:t>
            </a:r>
            <a:r>
              <a:rPr lang="en-US" sz="1050"/>
              <a:t>2029).</a:t>
            </a:r>
          </a:p>
          <a:p>
            <a:r>
              <a:rPr lang="en-US" sz="1050" b="1"/>
              <a:t>Key deliverables and milestones:</a:t>
            </a:r>
          </a:p>
          <a:p>
            <a:pPr lvl="1"/>
            <a:r>
              <a:rPr lang="en-US" sz="1050"/>
              <a:t>Final Investment Decision (Q3 2027);</a:t>
            </a:r>
          </a:p>
          <a:p>
            <a:pPr lvl="1"/>
            <a:r>
              <a:rPr lang="en-US" sz="1050"/>
              <a:t>Major permits secured, </a:t>
            </a:r>
            <a:r>
              <a:rPr lang="en-US" sz="1050" i="1"/>
              <a:t>include environmental permits </a:t>
            </a:r>
            <a:r>
              <a:rPr lang="en-US" sz="1050"/>
              <a:t>(Q3 2027)</a:t>
            </a:r>
          </a:p>
          <a:p>
            <a:pPr lvl="1"/>
            <a:r>
              <a:rPr lang="en-US" sz="1050"/>
              <a:t>Commercial Operation Date (Q2 2029). </a:t>
            </a:r>
          </a:p>
          <a:p>
            <a:r>
              <a:rPr lang="en-US" sz="1050" b="1"/>
              <a:t>A Rough Order of Magnitude (ROM) cost estimate for the Proposed Project is $235,000,000 </a:t>
            </a:r>
          </a:p>
          <a:p>
            <a:pPr lvl="1"/>
            <a:r>
              <a:rPr lang="en-US" sz="1050"/>
              <a:t>CAPEX ($160M); Corp Spend/Development ($65M); Assembly Facility ($10M) </a:t>
            </a:r>
            <a:endParaRPr lang="en-US" sz="1050" b="1"/>
          </a:p>
          <a:p>
            <a:r>
              <a:rPr lang="en-US" sz="1050"/>
              <a:t>We hired a financial advisor and have commenced a </a:t>
            </a:r>
            <a:r>
              <a:rPr lang="en-US" sz="1050" err="1"/>
              <a:t>deSPAC</a:t>
            </a:r>
            <a:r>
              <a:rPr lang="en-US" sz="1050"/>
              <a:t>, which we expect to close by Nov 2026. Expected proceeds from transaction are &gt;$200M, and through a combination of this corporate equity and debt we will cover our cost share</a:t>
            </a:r>
          </a:p>
        </p:txBody>
      </p:sp>
      <p:sp>
        <p:nvSpPr>
          <p:cNvPr id="27" name="TextBox 26">
            <a:extLst>
              <a:ext uri="{FF2B5EF4-FFF2-40B4-BE49-F238E27FC236}">
                <a16:creationId xmlns:a16="http://schemas.microsoft.com/office/drawing/2014/main" id="{E88810D8-350B-F67F-9331-72C9CB94D8F9}"/>
              </a:ext>
            </a:extLst>
          </p:cNvPr>
          <p:cNvSpPr txBox="1"/>
          <p:nvPr/>
        </p:nvSpPr>
        <p:spPr>
          <a:xfrm>
            <a:off x="5526720" y="6596573"/>
            <a:ext cx="2706155" cy="246221"/>
          </a:xfrm>
          <a:prstGeom prst="rect">
            <a:avLst/>
          </a:prstGeom>
          <a:noFill/>
        </p:spPr>
        <p:txBody>
          <a:bodyPr wrap="square">
            <a:spAutoFit/>
          </a:bodyPr>
          <a:lstStyle/>
          <a:p>
            <a:r>
              <a:rPr lang="en-US" sz="1000" b="1" u="sng">
                <a:solidFill>
                  <a:srgbClr val="FF0000"/>
                </a:solidFill>
                <a:latin typeface="Arial" pitchFamily="34" charset="0"/>
                <a:cs typeface="Arial" pitchFamily="34" charset="0"/>
              </a:rPr>
              <a:t>Proprietary</a:t>
            </a:r>
            <a:endParaRPr lang="en-US" sz="1000"/>
          </a:p>
        </p:txBody>
      </p:sp>
      <p:sp>
        <p:nvSpPr>
          <p:cNvPr id="2" name="TextBox 1">
            <a:extLst>
              <a:ext uri="{FF2B5EF4-FFF2-40B4-BE49-F238E27FC236}">
                <a16:creationId xmlns:a16="http://schemas.microsoft.com/office/drawing/2014/main" id="{F062884B-E297-988C-44AC-D4283093AF34}"/>
              </a:ext>
            </a:extLst>
          </p:cNvPr>
          <p:cNvSpPr txBox="1"/>
          <p:nvPr/>
        </p:nvSpPr>
        <p:spPr>
          <a:xfrm>
            <a:off x="6091425" y="3790253"/>
            <a:ext cx="5752531" cy="212365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100" b="1">
                <a:latin typeface="Arial"/>
                <a:cs typeface="Arial"/>
              </a:rPr>
              <a:t>Critical Raw Material Supply Chain Relationships.</a:t>
            </a:r>
            <a:r>
              <a:rPr lang="en-US" sz="1100">
                <a:latin typeface="Arial"/>
                <a:cs typeface="Arial"/>
              </a:rPr>
              <a:t> Black mass feedstock term sheets with Trafigura (12,000 </a:t>
            </a:r>
            <a:r>
              <a:rPr lang="en-US" sz="1100" err="1">
                <a:latin typeface="Arial"/>
                <a:cs typeface="Arial"/>
              </a:rPr>
              <a:t>tpa</a:t>
            </a:r>
            <a:r>
              <a:rPr lang="en-US" sz="1100">
                <a:latin typeface="Arial"/>
                <a:cs typeface="Arial"/>
              </a:rPr>
              <a:t>), WMC (3,000 </a:t>
            </a:r>
            <a:r>
              <a:rPr lang="en-US" sz="1100" err="1">
                <a:latin typeface="Arial"/>
                <a:cs typeface="Arial"/>
              </a:rPr>
              <a:t>tpa</a:t>
            </a:r>
            <a:r>
              <a:rPr lang="en-US" sz="1100">
                <a:latin typeface="Arial"/>
                <a:cs typeface="Arial"/>
              </a:rPr>
              <a:t>), Norsk Hydro/Hydrovolt (3,000 </a:t>
            </a:r>
            <a:r>
              <a:rPr lang="en-US" sz="1100" err="1">
                <a:latin typeface="Arial"/>
                <a:cs typeface="Arial"/>
              </a:rPr>
              <a:t>tpa</a:t>
            </a:r>
            <a:r>
              <a:rPr lang="en-US" sz="1100">
                <a:latin typeface="Arial"/>
                <a:cs typeface="Arial"/>
              </a:rPr>
              <a:t>), and </a:t>
            </a:r>
            <a:r>
              <a:rPr lang="en-US" sz="1100" err="1">
                <a:latin typeface="Arial"/>
                <a:cs typeface="Arial"/>
              </a:rPr>
              <a:t>Revomet</a:t>
            </a:r>
            <a:r>
              <a:rPr lang="en-US" sz="1100">
                <a:latin typeface="Arial"/>
                <a:cs typeface="Arial"/>
              </a:rPr>
              <a:t> (3,000 </a:t>
            </a:r>
            <a:r>
              <a:rPr lang="en-US" sz="1100" err="1">
                <a:latin typeface="Arial"/>
                <a:cs typeface="Arial"/>
              </a:rPr>
              <a:t>tpa</a:t>
            </a:r>
            <a:r>
              <a:rPr lang="en-US" sz="1100">
                <a:latin typeface="Arial"/>
                <a:cs typeface="Arial"/>
              </a:rPr>
              <a:t>).</a:t>
            </a:r>
            <a:endParaRPr lang="en-US" sz="1100"/>
          </a:p>
          <a:p>
            <a:pPr marL="285750" indent="-285750">
              <a:buFont typeface="Arial" panose="020B0604020202020204" pitchFamily="34" charset="0"/>
              <a:buChar char="•"/>
            </a:pPr>
            <a:endParaRPr lang="en-US" sz="1100">
              <a:latin typeface="Arial"/>
              <a:cs typeface="Arial"/>
            </a:endParaRPr>
          </a:p>
          <a:p>
            <a:pPr marL="285750" indent="-285750">
              <a:buFont typeface="Arial" panose="020B0604020202020204" pitchFamily="34" charset="0"/>
              <a:buChar char="•"/>
            </a:pPr>
            <a:r>
              <a:rPr lang="en-US" sz="1100" b="1">
                <a:latin typeface="Arial"/>
                <a:cs typeface="Arial"/>
              </a:rPr>
              <a:t>Downstream Customer Relationships.</a:t>
            </a:r>
            <a:r>
              <a:rPr lang="en-US" sz="1100">
                <a:latin typeface="Arial"/>
                <a:cs typeface="Arial"/>
              </a:rPr>
              <a:t> Nth Cycle has a binding 10-year offtake agreement with Trafigura for all metal products produced from this facility secured (projected value of $1.1B).</a:t>
            </a:r>
            <a:endParaRPr lang="en-US" sz="1100"/>
          </a:p>
          <a:p>
            <a:pPr marL="285750" indent="-285750">
              <a:buFont typeface="Arial" panose="020B0604020202020204" pitchFamily="34" charset="0"/>
              <a:buChar char="•"/>
            </a:pPr>
            <a:endParaRPr lang="en-US" sz="1100">
              <a:latin typeface="Arial"/>
              <a:cs typeface="Arial"/>
            </a:endParaRPr>
          </a:p>
          <a:p>
            <a:pPr marL="285750" indent="-285750">
              <a:buFont typeface="Arial" panose="020B0604020202020204" pitchFamily="34" charset="0"/>
              <a:buChar char="•"/>
            </a:pPr>
            <a:r>
              <a:rPr lang="en-US" sz="1100" b="1">
                <a:latin typeface="Arial"/>
                <a:cs typeface="Arial"/>
              </a:rPr>
              <a:t>Infrastructure and Facilities. </a:t>
            </a:r>
            <a:r>
              <a:rPr lang="en-US" sz="1100">
                <a:latin typeface="Arial"/>
                <a:cs typeface="Arial"/>
              </a:rPr>
              <a:t>Nth Cycle's headquarters are in Burlington, MA. Black mass refining demonstration facility in Fairfield, OH. Electroextraction stack assembly facility in Portsmouth, NH. Site visits around Charleston, SC have been completed to identify brownfield site for proposed commercial facility.</a:t>
            </a:r>
          </a:p>
        </p:txBody>
      </p:sp>
      <p:sp>
        <p:nvSpPr>
          <p:cNvPr id="3" name="TextBox 2">
            <a:extLst>
              <a:ext uri="{FF2B5EF4-FFF2-40B4-BE49-F238E27FC236}">
                <a16:creationId xmlns:a16="http://schemas.microsoft.com/office/drawing/2014/main" id="{89D6D0BA-AC8A-D045-9EBB-FD9C8462E14D}"/>
              </a:ext>
            </a:extLst>
          </p:cNvPr>
          <p:cNvSpPr txBox="1"/>
          <p:nvPr/>
        </p:nvSpPr>
        <p:spPr>
          <a:xfrm>
            <a:off x="6583480" y="3433910"/>
            <a:ext cx="4758133" cy="276999"/>
          </a:xfrm>
          <a:prstGeom prst="rect">
            <a:avLst/>
          </a:prstGeom>
          <a:solidFill>
            <a:schemeClr val="tx1">
              <a:lumMod val="75000"/>
              <a:lumOff val="25000"/>
            </a:schemeClr>
          </a:solidFill>
          <a:ln>
            <a:solidFill>
              <a:schemeClr val="tx1">
                <a:lumMod val="75000"/>
                <a:lumOff val="25000"/>
              </a:schemeClr>
            </a:solidFill>
          </a:ln>
        </p:spPr>
        <p:txBody>
          <a:bodyPr wrap="square" lIns="91440" tIns="45720" rIns="91440" bIns="45720" rtlCol="0" anchor="t">
            <a:spAutoFit/>
          </a:bodyPr>
          <a:lstStyle/>
          <a:p>
            <a:pPr algn="ctr"/>
            <a:r>
              <a:rPr lang="en-US" sz="1200" b="1">
                <a:solidFill>
                  <a:srgbClr val="FFFFFF"/>
                </a:solidFill>
                <a:latin typeface="Arial"/>
                <a:cs typeface="Arial"/>
              </a:rPr>
              <a:t>Supply Chain Integration</a:t>
            </a:r>
            <a:endParaRPr lang="en-US"/>
          </a:p>
        </p:txBody>
      </p:sp>
      <p:sp>
        <p:nvSpPr>
          <p:cNvPr id="4" name="TextBox 3">
            <a:extLst>
              <a:ext uri="{FF2B5EF4-FFF2-40B4-BE49-F238E27FC236}">
                <a16:creationId xmlns:a16="http://schemas.microsoft.com/office/drawing/2014/main" id="{41992CEB-BAAC-D84C-A861-33790CE1C595}"/>
              </a:ext>
            </a:extLst>
          </p:cNvPr>
          <p:cNvSpPr txBox="1"/>
          <p:nvPr/>
        </p:nvSpPr>
        <p:spPr>
          <a:xfrm>
            <a:off x="6069668" y="385138"/>
            <a:ext cx="5760228" cy="2839239"/>
          </a:xfrm>
          <a:prstGeom prst="rect">
            <a:avLst/>
          </a:prstGeom>
          <a:noFill/>
        </p:spPr>
        <p:txBody>
          <a:bodyPr wrap="square" lIns="91440" tIns="45720" rIns="91440" bIns="45720" rtlCol="0" anchor="t">
            <a:spAutoFit/>
          </a:bodyPr>
          <a:lstStyle/>
          <a:p>
            <a:r>
              <a:rPr lang="en-US" sz="1050" b="1">
                <a:solidFill>
                  <a:srgbClr val="0A4054"/>
                </a:solidFill>
                <a:latin typeface="Arial"/>
                <a:ea typeface="+mn-lt"/>
                <a:cs typeface="Arial"/>
              </a:rPr>
              <a:t>Company Overview.</a:t>
            </a:r>
            <a:r>
              <a:rPr lang="en-US" sz="1050">
                <a:solidFill>
                  <a:srgbClr val="0A4054"/>
                </a:solidFill>
                <a:latin typeface="Arial"/>
                <a:ea typeface="+mn-lt"/>
                <a:cs typeface="Arial"/>
              </a:rPr>
              <a:t> Nth Cycle is a critical minerals midstream refining company </a:t>
            </a:r>
            <a:br>
              <a:rPr lang="en-US" sz="1050">
                <a:solidFill>
                  <a:srgbClr val="0A4054"/>
                </a:solidFill>
                <a:latin typeface="Arial"/>
                <a:ea typeface="+mn-lt"/>
                <a:cs typeface="Arial"/>
              </a:rPr>
            </a:br>
            <a:r>
              <a:rPr lang="en-US" sz="1050">
                <a:solidFill>
                  <a:srgbClr val="0A4054"/>
                </a:solidFill>
                <a:latin typeface="Arial"/>
                <a:ea typeface="+mn-lt"/>
                <a:cs typeface="Arial"/>
              </a:rPr>
              <a:t>building the technology and infrastructure needed for Western supply chains. The </a:t>
            </a:r>
            <a:br>
              <a:rPr lang="en-US" sz="1050">
                <a:solidFill>
                  <a:srgbClr val="0A4054"/>
                </a:solidFill>
                <a:latin typeface="Arial"/>
                <a:ea typeface="+mn-lt"/>
                <a:cs typeface="Arial"/>
              </a:rPr>
            </a:br>
            <a:r>
              <a:rPr lang="en-US" sz="1050">
                <a:solidFill>
                  <a:srgbClr val="0A4054"/>
                </a:solidFill>
                <a:latin typeface="Arial"/>
                <a:ea typeface="+mn-lt"/>
                <a:cs typeface="Arial"/>
              </a:rPr>
              <a:t>company addresses the market's structural bottleneck: feedstock volumes do not align </a:t>
            </a:r>
            <a:br>
              <a:rPr lang="en-US" sz="1050">
                <a:solidFill>
                  <a:srgbClr val="0A4054"/>
                </a:solidFill>
                <a:latin typeface="Arial"/>
                <a:ea typeface="+mn-lt"/>
                <a:cs typeface="Arial"/>
              </a:rPr>
            </a:br>
            <a:r>
              <a:rPr lang="en-US" sz="1050">
                <a:solidFill>
                  <a:srgbClr val="0A4054"/>
                </a:solidFill>
                <a:latin typeface="Arial"/>
                <a:ea typeface="+mn-lt"/>
                <a:cs typeface="Arial"/>
              </a:rPr>
              <a:t>with the scale and economics of large, traditional refineries. Nth Cycle solves this constraint with a modular system,  dramatically lowering capital intensity, deployment time and emissions to convert industrial scrap, black mass and primary feeds into intermediate and refined products within the nickel, cobalt, copper and rare earth value chains. These advancements enable the domestic production and allied partnerships vital to industrial competitiveness, national security and supply chain resilience.</a:t>
            </a:r>
          </a:p>
          <a:p>
            <a:endParaRPr lang="en-US" sz="1050">
              <a:latin typeface="Arial"/>
              <a:ea typeface="+mn-lt"/>
              <a:cs typeface="Arial"/>
            </a:endParaRPr>
          </a:p>
          <a:p>
            <a:r>
              <a:rPr lang="en-US" sz="1050" b="1">
                <a:latin typeface="Arial"/>
                <a:ea typeface="+mn-lt"/>
                <a:cs typeface="Arial"/>
              </a:rPr>
              <a:t>Experience</a:t>
            </a:r>
            <a:r>
              <a:rPr lang="en-US" sz="1050" b="1">
                <a:solidFill>
                  <a:srgbClr val="0A4054"/>
                </a:solidFill>
                <a:latin typeface="Arial"/>
                <a:ea typeface="+mn-lt"/>
                <a:cs typeface="Arial"/>
              </a:rPr>
              <a:t> and Expertise. </a:t>
            </a:r>
            <a:r>
              <a:rPr lang="en-US" sz="1050">
                <a:solidFill>
                  <a:srgbClr val="0A4054"/>
                </a:solidFill>
                <a:latin typeface="Arial"/>
                <a:ea typeface="+mn-lt"/>
                <a:cs typeface="Arial"/>
              </a:rPr>
              <a:t> Nth Cycle has been operating its first commercial black mass refining demonstration facility in Fairfield, Ohio since 2024. </a:t>
            </a:r>
            <a:r>
              <a:rPr lang="en-US" sz="1050" b="1">
                <a:latin typeface="Arial"/>
                <a:ea typeface="+mn-lt"/>
                <a:cs typeface="Arial"/>
              </a:rPr>
              <a:t>Fundraising Summary. </a:t>
            </a:r>
            <a:r>
              <a:rPr lang="en-US" sz="1050">
                <a:latin typeface="Arial"/>
                <a:ea typeface="+mn-lt"/>
                <a:cs typeface="Arial"/>
              </a:rPr>
              <a:t>Raised &gt;$80M to date. </a:t>
            </a:r>
            <a:r>
              <a:rPr lang="en-US" sz="1050" b="1">
                <a:latin typeface="Arial"/>
                <a:ea typeface="+mn-lt"/>
                <a:cs typeface="Arial"/>
              </a:rPr>
              <a:t>Commercialization Plan.</a:t>
            </a:r>
            <a:r>
              <a:rPr lang="en-US" sz="1050">
                <a:latin typeface="Arial"/>
                <a:ea typeface="+mn-lt"/>
                <a:cs typeface="Arial"/>
              </a:rPr>
              <a:t> We have a binding 10 year offtake agreement with Trafigura for products from this facility. </a:t>
            </a:r>
            <a:r>
              <a:rPr lang="en-US" sz="1050" b="1">
                <a:solidFill>
                  <a:srgbClr val="0A4054"/>
                </a:solidFill>
                <a:latin typeface="Arial"/>
                <a:cs typeface="Arial"/>
              </a:rPr>
              <a:t>Foreign Investment. </a:t>
            </a:r>
            <a:r>
              <a:rPr lang="en-US" sz="1050">
                <a:solidFill>
                  <a:srgbClr val="0A4054"/>
                </a:solidFill>
                <a:latin typeface="Arial"/>
                <a:cs typeface="Arial"/>
              </a:rPr>
              <a:t> Foreign investment is limited to a small number of investors who each own a low single digit % (max is 3.5% by a UK investor family office), a similar amount by Equinor, and lower amounts by other European and other investors. Total foreign ownership &lt;15%.</a:t>
            </a:r>
            <a:r>
              <a:rPr lang="en-US" sz="1050" b="1">
                <a:latin typeface="Arial"/>
                <a:ea typeface="+mn-lt"/>
                <a:cs typeface="Arial"/>
              </a:rPr>
              <a:t>Non-compliance notices. </a:t>
            </a:r>
            <a:r>
              <a:rPr lang="en-US" sz="1050">
                <a:latin typeface="Arial"/>
                <a:ea typeface="+mn-lt"/>
                <a:cs typeface="Arial"/>
              </a:rPr>
              <a:t>None.</a:t>
            </a:r>
            <a:endParaRPr kumimoji="0" lang="en-US" sz="1050" b="0" i="0" u="none" strike="noStrike" kern="1200" cap="none" spc="0" normalizeH="0" baseline="0" noProof="0">
              <a:ln>
                <a:noFill/>
              </a:ln>
              <a:effectLst/>
              <a:uLnTx/>
              <a:uFillTx/>
              <a:latin typeface="Arial"/>
              <a:ea typeface="+mn-ea"/>
              <a:cs typeface="Arial"/>
            </a:endParaRPr>
          </a:p>
        </p:txBody>
      </p:sp>
    </p:spTree>
    <p:extLst>
      <p:ext uri="{BB962C8B-B14F-4D97-AF65-F5344CB8AC3E}">
        <p14:creationId xmlns:p14="http://schemas.microsoft.com/office/powerpoint/2010/main" val="710872458"/>
      </p:ext>
    </p:extLst>
  </p:cSld>
  <p:clrMapOvr>
    <a:masterClrMapping/>
  </p:clrMapOvr>
</p:sld>
</file>

<file path=ppt/theme/theme1.xml><?xml version="1.0" encoding="utf-8"?>
<a:theme xmlns:a="http://schemas.openxmlformats.org/drawingml/2006/main" name="RRPV_PPT_Template_2023">
  <a:themeElements>
    <a:clrScheme name="DIBC Colors">
      <a:dk1>
        <a:srgbClr val="0A4054"/>
      </a:dk1>
      <a:lt1>
        <a:sysClr val="window" lastClr="FFFFFF"/>
      </a:lt1>
      <a:dk2>
        <a:srgbClr val="0A4054"/>
      </a:dk2>
      <a:lt2>
        <a:srgbClr val="E7E6E6"/>
      </a:lt2>
      <a:accent1>
        <a:srgbClr val="32A6D3"/>
      </a:accent1>
      <a:accent2>
        <a:srgbClr val="4895B0"/>
      </a:accent2>
      <a:accent3>
        <a:srgbClr val="A5A5A5"/>
      </a:accent3>
      <a:accent4>
        <a:srgbClr val="FFC000"/>
      </a:accent4>
      <a:accent5>
        <a:srgbClr val="386C7C"/>
      </a:accent5>
      <a:accent6>
        <a:srgbClr val="7F7F7F"/>
      </a:accent6>
      <a:hlink>
        <a:srgbClr val="32A6D3"/>
      </a:hlink>
      <a:folHlink>
        <a:srgbClr val="386C7C"/>
      </a:folHlink>
    </a:clrScheme>
    <a:fontScheme name="Custom 1">
      <a:majorFont>
        <a:latin typeface="Open Sans Semibold"/>
        <a:ea typeface=""/>
        <a:cs typeface=""/>
      </a:majorFont>
      <a:minorFont>
        <a:latin typeface="Franklin Gothic Medium C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BC-PPT-Template" id="{862E6282-44B2-45C9-B968-152ADF1002DE}" vid="{7D613A98-A969-4BE6-BB12-0C74347A85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C9C8A1D07DA854FB009D17402E22846" ma:contentTypeVersion="21" ma:contentTypeDescription="Create a new document." ma:contentTypeScope="" ma:versionID="f85a4f85702bcfa01941fa39744dcffc">
  <xsd:schema xmlns:xsd="http://www.w3.org/2001/XMLSchema" xmlns:xs="http://www.w3.org/2001/XMLSchema" xmlns:p="http://schemas.microsoft.com/office/2006/metadata/properties" xmlns:ns2="1c99e3fc-2c4d-4475-bf1d-3a4543392362" xmlns:ns3="830959bd-b764-45f9-884c-1a2f28ad22d5" targetNamespace="http://schemas.microsoft.com/office/2006/metadata/properties" ma:root="true" ma:fieldsID="546809d46f31a1d495a99e14f27c6523" ns2:_="" ns3:_="">
    <xsd:import namespace="1c99e3fc-2c4d-4475-bf1d-3a4543392362"/>
    <xsd:import namespace="830959bd-b764-45f9-884c-1a2f28ad22d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element ref="ns2:Not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99e3fc-2c4d-4475-bf1d-3a4543392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e2d7a49-350b-41d9-b123-b7c96a49b10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fault="Notes" ma:description="Quick description of study&#10;" ma:format="Dropdown" ma:internalName="Notes">
      <xsd:simpleType>
        <xsd:restriction base="dms:Text">
          <xsd:maxLength value="255"/>
        </xsd:restrictio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0959bd-b764-45f9-884c-1a2f28ad22d5"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833847c7-b15f-4ab1-b33e-6afacc30dff5}" ma:internalName="TaxCatchAll" ma:showField="CatchAllData" ma:web="830959bd-b764-45f9-884c-1a2f28ad22d5">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c99e3fc-2c4d-4475-bf1d-3a4543392362">
      <Terms xmlns="http://schemas.microsoft.com/office/infopath/2007/PartnerControls"/>
    </lcf76f155ced4ddcb4097134ff3c332f>
    <Notes xmlns="1c99e3fc-2c4d-4475-bf1d-3a4543392362">Notes</Notes>
    <TaxCatchAll xmlns="830959bd-b764-45f9-884c-1a2f28ad22d5" xsi:nil="true"/>
  </documentManagement>
</p:properties>
</file>

<file path=customXml/itemProps1.xml><?xml version="1.0" encoding="utf-8"?>
<ds:datastoreItem xmlns:ds="http://schemas.openxmlformats.org/officeDocument/2006/customXml" ds:itemID="{143426D2-FB87-4635-B627-903A64BF71FB}">
  <ds:schemaRefs>
    <ds:schemaRef ds:uri="http://schemas.microsoft.com/sharepoint/v3/contenttype/forms"/>
  </ds:schemaRefs>
</ds:datastoreItem>
</file>

<file path=customXml/itemProps2.xml><?xml version="1.0" encoding="utf-8"?>
<ds:datastoreItem xmlns:ds="http://schemas.openxmlformats.org/officeDocument/2006/customXml" ds:itemID="{3B97C615-966A-4802-B868-F08E6C19A887}">
  <ds:schemaRefs>
    <ds:schemaRef ds:uri="1c99e3fc-2c4d-4475-bf1d-3a4543392362"/>
    <ds:schemaRef ds:uri="830959bd-b764-45f9-884c-1a2f28ad22d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9239E372-A060-4C9C-9FCC-8E22E9814546}">
  <ds:schemaRefs>
    <ds:schemaRef ds:uri="1c99e3fc-2c4d-4475-bf1d-3a4543392362"/>
    <ds:schemaRef ds:uri="830959bd-b764-45f9-884c-1a2f28ad22d5"/>
    <ds:schemaRef ds:uri="http://schemas.microsoft.com/office/2006/metadata/properties"/>
    <ds:schemaRef ds:uri="http://schemas.microsoft.com/office/infopath/2007/PartnerControls"/>
    <ds:schemaRef ds:uri="http://www.w3.org/2000/xmlns/"/>
    <ds:schemaRef ds:uri="http://www.w3.org/2001/XMLSchema-instance"/>
  </ds:schemaRefs>
</ds:datastoreItem>
</file>

<file path=docMetadata/LabelInfo.xml><?xml version="1.0" encoding="utf-8"?>
<clbl:labelList xmlns:clbl="http://schemas.microsoft.com/office/2020/mipLabelMetadata">
  <clbl:label id="{0da06a35-f4a9-417e-b67a-7ae58f71156a}" enabled="1" method="Standard" siteId="{102d0191-eeae-4761-b1cb-1a83e86ef445}" contentBits="0" removed="0"/>
  <clbl:label id="{f623742d-91ba-4558-9fa5-cc908b507967}" enabled="1" method="Privileged" siteId="{102d0191-eeae-4761-b1cb-1a83e86ef445}" removed="0"/>
</clbl:labelList>
</file>

<file path=docProps/app.xml><?xml version="1.0" encoding="utf-8"?>
<Properties xmlns="http://schemas.openxmlformats.org/officeDocument/2006/extended-properties" xmlns:vt="http://schemas.openxmlformats.org/officeDocument/2006/docPropsVTypes">
  <Template/>
  <TotalTime>1</TotalTime>
  <Words>811</Words>
  <Application>Microsoft Macintosh PowerPoint</Application>
  <PresentationFormat>Widescreen</PresentationFormat>
  <Paragraphs>36</Paragraphs>
  <Slides>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Arial</vt:lpstr>
      <vt:lpstr>Calibri</vt:lpstr>
      <vt:lpstr>Franklin Gothic Medium Cond</vt:lpstr>
      <vt:lpstr>Open Sans Semibold</vt:lpstr>
      <vt:lpstr>RRPV_PPT_Template_2023</vt:lpstr>
      <vt:lpstr>DIBC Request for Project Proposal (RPP) RPP-CM-26-01 Company Name: Nth Cycle Inc CAGE: 7Y0F0 UEI: KDEPLJUB1549 Project Title: Project SHIELD      Anticipated Security Level: Unclassified, however Controlled Technical Information and/or Controlled Unclassified Information may be required.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Schupp, Eliot</dc:creator>
  <cp:lastModifiedBy>Megan O'Connor</cp:lastModifiedBy>
  <cp:revision>3</cp:revision>
  <dcterms:created xsi:type="dcterms:W3CDTF">2023-09-21T17:55:36Z</dcterms:created>
  <dcterms:modified xsi:type="dcterms:W3CDTF">2026-03-20T15:59:35Z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0x0101001C9C8A1D07DA854FB009D17402E22846</vt:lpwstr>
  </property>
  <property fmtid="{D5CDD505-2E9C-101B-9397-08002B2CF9AE}" pid="3" name="_dlc_DocIdItemGuid">
    <vt:lpwstr>bc7c0ab4-c30f-4cfa-b710-889947ec1f8c</vt:lpwstr>
  </property>
  <property fmtid="{D5CDD505-2E9C-101B-9397-08002B2CF9AE}" pid="4" name="MSIP_Label_f623742d-91ba-4558-9fa5-cc908b507967_Enabled">
    <vt:lpwstr>True</vt:lpwstr>
  </property>
  <property fmtid="{D5CDD505-2E9C-101B-9397-08002B2CF9AE}" pid="5" name="MSIP_Label_f623742d-91ba-4558-9fa5-cc908b507967_SiteId">
    <vt:lpwstr>102d0191-eeae-4761-b1cb-1a83e86ef445</vt:lpwstr>
  </property>
  <property fmtid="{D5CDD505-2E9C-101B-9397-08002B2CF9AE}" pid="6" name="MSIP_Label_f623742d-91ba-4558-9fa5-cc908b507967_SetDate">
    <vt:lpwstr>2025-03-21T20:44:37Z</vt:lpwstr>
  </property>
  <property fmtid="{D5CDD505-2E9C-101B-9397-08002B2CF9AE}" pid="7" name="MSIP_Label_f623742d-91ba-4558-9fa5-cc908b507967_Name">
    <vt:lpwstr>Controlled - Collaboration</vt:lpwstr>
  </property>
  <property fmtid="{D5CDD505-2E9C-101B-9397-08002B2CF9AE}" pid="8" name="MSIP_Label_f623742d-91ba-4558-9fa5-cc908b507967_ActionId">
    <vt:lpwstr>8958377f-da96-467d-9ca6-7ab052357664</vt:lpwstr>
  </property>
  <property fmtid="{D5CDD505-2E9C-101B-9397-08002B2CF9AE}" pid="9" name="MSIP_Label_f623742d-91ba-4558-9fa5-cc908b507967_Extended_MSFT_Method">
    <vt:lpwstr>Standard</vt:lpwstr>
  </property>
  <property fmtid="{D5CDD505-2E9C-101B-9397-08002B2CF9AE}" pid="10" name="Sensitivity">
    <vt:lpwstr>Controlled - Collaboration \ CUI Controlled - Collaboration</vt:lpwstr>
  </property>
  <property fmtid="{D5CDD505-2E9C-101B-9397-08002B2CF9AE}" pid="11" name="MediaServiceImageTags">
    <vt:lpwstr/>
  </property>
  <property fmtid="{D5CDD505-2E9C-101B-9397-08002B2CF9AE}" pid="12" name="MSIP_Label_0da06a35-f4a9-417e-b67a-7ae58f71156a_Enabled">
    <vt:lpwstr>true</vt:lpwstr>
  </property>
  <property fmtid="{D5CDD505-2E9C-101B-9397-08002B2CF9AE}" pid="13" name="MSIP_Label_0da06a35-f4a9-417e-b67a-7ae58f71156a_SetDate">
    <vt:lpwstr>2025-05-08T13:36:11Z</vt:lpwstr>
  </property>
  <property fmtid="{D5CDD505-2E9C-101B-9397-08002B2CF9AE}" pid="14" name="MSIP_Label_0da06a35-f4a9-417e-b67a-7ae58f71156a_Method">
    <vt:lpwstr>Standard</vt:lpwstr>
  </property>
  <property fmtid="{D5CDD505-2E9C-101B-9397-08002B2CF9AE}" pid="15" name="MSIP_Label_0da06a35-f4a9-417e-b67a-7ae58f71156a_Name">
    <vt:lpwstr>Controlled_Child_01</vt:lpwstr>
  </property>
  <property fmtid="{D5CDD505-2E9C-101B-9397-08002B2CF9AE}" pid="16" name="MSIP_Label_0da06a35-f4a9-417e-b67a-7ae58f71156a_SiteId">
    <vt:lpwstr>102d0191-eeae-4761-b1cb-1a83e86ef445</vt:lpwstr>
  </property>
  <property fmtid="{D5CDD505-2E9C-101B-9397-08002B2CF9AE}" pid="17" name="MSIP_Label_0da06a35-f4a9-417e-b67a-7ae58f71156a_ActionId">
    <vt:lpwstr>b77fce7c-532c-4c48-aa00-4b5c1b9356d1</vt:lpwstr>
  </property>
  <property fmtid="{D5CDD505-2E9C-101B-9397-08002B2CF9AE}" pid="18" name="MSIP_Label_0da06a35-f4a9-417e-b67a-7ae58f71156a_ContentBits">
    <vt:lpwstr>0</vt:lpwstr>
  </property>
  <property fmtid="{D5CDD505-2E9C-101B-9397-08002B2CF9AE}" pid="19" name="MSIP_Label_0da06a35-f4a9-417e-b67a-7ae58f71156a_Tag">
    <vt:lpwstr>10, 3, 0, 2</vt:lpwstr>
  </property>
  <property fmtid="{D5CDD505-2E9C-101B-9397-08002B2CF9AE}" pid="20" name="TaxCatchAll">
    <vt:lpwstr/>
  </property>
</Properties>
</file>